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9" r:id="rId4"/>
    <p:sldMasterId id="2147483703" r:id="rId5"/>
  </p:sldMasterIdLst>
  <p:notesMasterIdLst>
    <p:notesMasterId r:id="rId25"/>
  </p:notesMasterIdLst>
  <p:sldIdLst>
    <p:sldId id="256" r:id="rId6"/>
    <p:sldId id="368" r:id="rId7"/>
    <p:sldId id="369" r:id="rId8"/>
    <p:sldId id="380" r:id="rId9"/>
    <p:sldId id="381" r:id="rId10"/>
    <p:sldId id="382" r:id="rId11"/>
    <p:sldId id="383" r:id="rId12"/>
    <p:sldId id="384" r:id="rId13"/>
    <p:sldId id="370" r:id="rId14"/>
    <p:sldId id="372" r:id="rId15"/>
    <p:sldId id="375" r:id="rId16"/>
    <p:sldId id="385" r:id="rId17"/>
    <p:sldId id="388" r:id="rId18"/>
    <p:sldId id="387" r:id="rId19"/>
    <p:sldId id="386" r:id="rId20"/>
    <p:sldId id="377" r:id="rId21"/>
    <p:sldId id="379" r:id="rId22"/>
    <p:sldId id="376" r:id="rId23"/>
    <p:sldId id="348"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366"/>
    <a:srgbClr val="1D63B5"/>
    <a:srgbClr val="0000A8"/>
    <a:srgbClr val="0000FF"/>
    <a:srgbClr val="213163"/>
    <a:srgbClr val="001131"/>
    <a:srgbClr val="DDE8FF"/>
    <a:srgbClr val="851910"/>
    <a:srgbClr val="FFD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BD9CD2-49E8-4BAE-ADDC-D2647B4AD580}" v="3" dt="2026-02-07T03:46:56.2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282"/>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51"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3"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4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lcc033@outlook.com" userId="77eee596fc53c932" providerId="LiveId" clId="{896D1692-D8E3-464D-A876-BFCEFA2889D2}"/>
    <pc:docChg chg="undo custSel modSld sldOrd">
      <pc:chgData name="hlcc033@outlook.com" userId="77eee596fc53c932" providerId="LiveId" clId="{896D1692-D8E3-464D-A876-BFCEFA2889D2}" dt="2026-02-07T03:47:31.831" v="71" actId="1076"/>
      <pc:docMkLst>
        <pc:docMk/>
      </pc:docMkLst>
      <pc:sldChg chg="addSp delSp modSp mod modTransition addAnim delAnim modAnim">
        <pc:chgData name="hlcc033@outlook.com" userId="77eee596fc53c932" providerId="LiveId" clId="{896D1692-D8E3-464D-A876-BFCEFA2889D2}" dt="2026-02-07T03:26:39.911" v="49" actId="21"/>
        <pc:sldMkLst>
          <pc:docMk/>
          <pc:sldMk cId="0" sldId="256"/>
        </pc:sldMkLst>
        <pc:spChg chg="mod">
          <ac:chgData name="hlcc033@outlook.com" userId="77eee596fc53c932" providerId="LiveId" clId="{896D1692-D8E3-464D-A876-BFCEFA2889D2}" dt="2026-02-07T03:17:00.130" v="9" actId="20577"/>
          <ac:spMkLst>
            <pc:docMk/>
            <pc:sldMk cId="0" sldId="256"/>
            <ac:spMk id="68" creationId="{FB6FAC35-1B51-92AA-1EE8-3B261A88036F}"/>
          </ac:spMkLst>
        </pc:spChg>
        <pc:spChg chg="mod">
          <ac:chgData name="hlcc033@outlook.com" userId="77eee596fc53c932" providerId="LiveId" clId="{896D1692-D8E3-464D-A876-BFCEFA2889D2}" dt="2026-02-07T03:25:29.051" v="40" actId="1076"/>
          <ac:spMkLst>
            <pc:docMk/>
            <pc:sldMk cId="0" sldId="256"/>
            <ac:spMk id="75" creationId="{E1E3E7CA-E75C-8BCB-4743-8B19F589EE9B}"/>
          </ac:spMkLst>
        </pc:spChg>
        <pc:grpChg chg="mod">
          <ac:chgData name="hlcc033@outlook.com" userId="77eee596fc53c932" providerId="LiveId" clId="{896D1692-D8E3-464D-A876-BFCEFA2889D2}" dt="2026-02-07T03:25:28.184" v="39" actId="1076"/>
          <ac:grpSpMkLst>
            <pc:docMk/>
            <pc:sldMk cId="0" sldId="256"/>
            <ac:grpSpMk id="2" creationId="{00000000-0000-0000-0000-000000000000}"/>
          </ac:grpSpMkLst>
        </pc:grpChg>
        <pc:grpChg chg="mod">
          <ac:chgData name="hlcc033@outlook.com" userId="77eee596fc53c932" providerId="LiveId" clId="{896D1692-D8E3-464D-A876-BFCEFA2889D2}" dt="2026-02-07T03:25:19.487" v="30" actId="1076"/>
          <ac:grpSpMkLst>
            <pc:docMk/>
            <pc:sldMk cId="0" sldId="256"/>
            <ac:grpSpMk id="11" creationId="{00000000-0000-0000-0000-000000000000}"/>
          </ac:grpSpMkLst>
        </pc:grpChg>
        <pc:grpChg chg="mod">
          <ac:chgData name="hlcc033@outlook.com" userId="77eee596fc53c932" providerId="LiveId" clId="{896D1692-D8E3-464D-A876-BFCEFA2889D2}" dt="2026-02-07T03:25:22.182" v="33" actId="1076"/>
          <ac:grpSpMkLst>
            <pc:docMk/>
            <pc:sldMk cId="0" sldId="256"/>
            <ac:grpSpMk id="14" creationId="{00000000-0000-0000-0000-000000000000}"/>
          </ac:grpSpMkLst>
        </pc:grpChg>
        <pc:picChg chg="add del mod">
          <ac:chgData name="hlcc033@outlook.com" userId="77eee596fc53c932" providerId="LiveId" clId="{896D1692-D8E3-464D-A876-BFCEFA2889D2}" dt="2026-02-07T03:26:39.911" v="49" actId="21"/>
          <ac:picMkLst>
            <pc:docMk/>
            <pc:sldMk cId="0" sldId="256"/>
            <ac:picMk id="31" creationId="{BC24934E-3EA5-28EE-830C-DE8F6FB984A9}"/>
          </ac:picMkLst>
        </pc:picChg>
      </pc:sldChg>
      <pc:sldChg chg="modSp mod">
        <pc:chgData name="hlcc033@outlook.com" userId="77eee596fc53c932" providerId="LiveId" clId="{896D1692-D8E3-464D-A876-BFCEFA2889D2}" dt="2026-02-07T03:27:12.977" v="52" actId="6549"/>
        <pc:sldMkLst>
          <pc:docMk/>
          <pc:sldMk cId="125300455" sldId="368"/>
        </pc:sldMkLst>
        <pc:spChg chg="mod">
          <ac:chgData name="hlcc033@outlook.com" userId="77eee596fc53c932" providerId="LiveId" clId="{896D1692-D8E3-464D-A876-BFCEFA2889D2}" dt="2026-02-07T03:27:12.977" v="52" actId="6549"/>
          <ac:spMkLst>
            <pc:docMk/>
            <pc:sldMk cId="125300455" sldId="368"/>
            <ac:spMk id="4" creationId="{E1494DD5-904E-76E9-38C0-10A35CC5BDD0}"/>
          </ac:spMkLst>
        </pc:spChg>
      </pc:sldChg>
      <pc:sldChg chg="addSp modSp mod">
        <pc:chgData name="hlcc033@outlook.com" userId="77eee596fc53c932" providerId="LiveId" clId="{896D1692-D8E3-464D-A876-BFCEFA2889D2}" dt="2026-02-07T03:29:31.584" v="58" actId="14100"/>
        <pc:sldMkLst>
          <pc:docMk/>
          <pc:sldMk cId="49215490" sldId="369"/>
        </pc:sldMkLst>
        <pc:picChg chg="add mod">
          <ac:chgData name="hlcc033@outlook.com" userId="77eee596fc53c932" providerId="LiveId" clId="{896D1692-D8E3-464D-A876-BFCEFA2889D2}" dt="2026-02-07T03:29:31.584" v="58" actId="14100"/>
          <ac:picMkLst>
            <pc:docMk/>
            <pc:sldMk cId="49215490" sldId="369"/>
            <ac:picMk id="4" creationId="{9B5FB4B4-53CD-021B-63B8-C4341308F360}"/>
          </ac:picMkLst>
        </pc:picChg>
      </pc:sldChg>
      <pc:sldChg chg="modSp mod">
        <pc:chgData name="hlcc033@outlook.com" userId="77eee596fc53c932" providerId="LiveId" clId="{896D1692-D8E3-464D-A876-BFCEFA2889D2}" dt="2026-02-07T03:27:53.216" v="56" actId="20577"/>
        <pc:sldMkLst>
          <pc:docMk/>
          <pc:sldMk cId="4110631614" sldId="380"/>
        </pc:sldMkLst>
        <pc:spChg chg="mod">
          <ac:chgData name="hlcc033@outlook.com" userId="77eee596fc53c932" providerId="LiveId" clId="{896D1692-D8E3-464D-A876-BFCEFA2889D2}" dt="2026-02-07T03:27:53.216" v="56" actId="20577"/>
          <ac:spMkLst>
            <pc:docMk/>
            <pc:sldMk cId="4110631614" sldId="380"/>
            <ac:spMk id="3" creationId="{56045592-77A4-6BA6-32C7-622FF38F0652}"/>
          </ac:spMkLst>
        </pc:spChg>
      </pc:sldChg>
      <pc:sldChg chg="ord">
        <pc:chgData name="hlcc033@outlook.com" userId="77eee596fc53c932" providerId="LiveId" clId="{896D1692-D8E3-464D-A876-BFCEFA2889D2}" dt="2026-02-07T03:40:52.004" v="62"/>
        <pc:sldMkLst>
          <pc:docMk/>
          <pc:sldMk cId="1632956481" sldId="387"/>
        </pc:sldMkLst>
      </pc:sldChg>
      <pc:sldChg chg="modSp mod ord">
        <pc:chgData name="hlcc033@outlook.com" userId="77eee596fc53c932" providerId="LiveId" clId="{896D1692-D8E3-464D-A876-BFCEFA2889D2}" dt="2026-02-07T03:47:31.831" v="71" actId="1076"/>
        <pc:sldMkLst>
          <pc:docMk/>
          <pc:sldMk cId="1270812237" sldId="388"/>
        </pc:sldMkLst>
        <pc:spChg chg="mod">
          <ac:chgData name="hlcc033@outlook.com" userId="77eee596fc53c932" providerId="LiveId" clId="{896D1692-D8E3-464D-A876-BFCEFA2889D2}" dt="2026-02-07T03:47:31.831" v="71" actId="1076"/>
          <ac:spMkLst>
            <pc:docMk/>
            <pc:sldMk cId="1270812237" sldId="388"/>
            <ac:spMk id="5" creationId="{BF9B328D-4FBE-7429-D57E-0408A5113D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268996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2</a:t>
            </a:fld>
            <a:endParaRPr lang="en-US" sz="1400" b="0" strike="noStrike" spc="-1">
              <a:latin typeface="Times New Roman"/>
            </a:endParaRPr>
          </a:p>
        </p:txBody>
      </p:sp>
    </p:spTree>
    <p:extLst>
      <p:ext uri="{BB962C8B-B14F-4D97-AF65-F5344CB8AC3E}">
        <p14:creationId xmlns:p14="http://schemas.microsoft.com/office/powerpoint/2010/main" val="85177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a:t>thank you very much for joining</a:t>
            </a:r>
            <a:r>
              <a:rPr lang="en-IN" b="0"/>
              <a:t> this </a:t>
            </a:r>
            <a:r>
              <a:rPr lang="en-IN"/>
              <a:t>PPT</a:t>
            </a:r>
            <a:r>
              <a:rPr lang="en-IN" b="0"/>
              <a:t>, keep learning.</a:t>
            </a: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19</a:t>
            </a:fld>
            <a:endParaRPr lang="en-US" sz="1200" b="0" strike="noStrike" spc="-1">
              <a:latin typeface="Times New Roman"/>
            </a:endParaRPr>
          </a:p>
        </p:txBody>
      </p:sp>
    </p:spTree>
    <p:extLst>
      <p:ext uri="{BB962C8B-B14F-4D97-AF65-F5344CB8AC3E}">
        <p14:creationId xmlns:p14="http://schemas.microsoft.com/office/powerpoint/2010/main" val="2385314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8773D-4C38-8744-0AFB-0CA22E600D5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D3D355-6982-21E1-2D61-B2B83AB81E09}"/>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6A672B-C195-D917-28FD-DBF31E29D946}"/>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9839F364-3701-C854-B3AF-91B571545D3D}"/>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49F2DF01-13D1-311E-99AB-14EAF7D241FD}"/>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2996561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3E0CC-01BD-A99C-C519-8A74111D24A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4EBE6-7A29-0E6E-716D-11FE8572E2FA}"/>
              </a:ext>
            </a:extLst>
          </p:cNvPr>
          <p:cNvSpPr>
            <a:spLocks noGrp="1"/>
          </p:cNvSpPr>
          <p:nvPr>
            <p:ph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90CB63-A6E6-BC6D-57DA-C2F316BE327F}"/>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D855D355-AA81-93BA-5623-5D4C141F2572}"/>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F922DE4C-3F78-1CD3-9753-702343043115}"/>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1010571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C589-22C1-8E0E-AC2A-403B70745D15}"/>
              </a:ext>
            </a:extLst>
          </p:cNvPr>
          <p:cNvSpPr>
            <a:spLocks noGrp="1"/>
          </p:cNvSpPr>
          <p:nvPr>
            <p:ph type="title"/>
          </p:nvPr>
        </p:nvSpPr>
        <p:spPr>
          <a:xfrm>
            <a:off x="623888" y="1282700"/>
            <a:ext cx="7886700" cy="2139950"/>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02EE48-EC8E-7F92-EE47-C645AB96848E}"/>
              </a:ext>
            </a:extLst>
          </p:cNvPr>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06018E-F935-4ABC-E0BC-5B5C2ED478FB}"/>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5BFAA911-19AE-C0FE-285C-62F6C345E6FB}"/>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915F4BB1-3850-36ED-FFCA-C87C1C9A6ADE}"/>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2429509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0693-F063-B7BE-9A28-04DC0E374DC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FC4232-FBD7-718D-CC11-49CD5CE2CA78}"/>
              </a:ext>
            </a:extLst>
          </p:cNvPr>
          <p:cNvSpPr>
            <a:spLocks noGrp="1"/>
          </p:cNvSpPr>
          <p:nvPr>
            <p:ph sz="half" idx="1"/>
          </p:nvPr>
        </p:nvSpPr>
        <p:spPr>
          <a:xfrm>
            <a:off x="62865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8F2F9A-992B-C400-79ED-A1358DA09FC2}"/>
              </a:ext>
            </a:extLst>
          </p:cNvPr>
          <p:cNvSpPr>
            <a:spLocks noGrp="1"/>
          </p:cNvSpPr>
          <p:nvPr>
            <p:ph sz="half" idx="2"/>
          </p:nvPr>
        </p:nvSpPr>
        <p:spPr>
          <a:xfrm>
            <a:off x="464820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B722CE-F8E7-12A8-5735-FB68E507943A}"/>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6" name="Footer Placeholder 5">
            <a:extLst>
              <a:ext uri="{FF2B5EF4-FFF2-40B4-BE49-F238E27FC236}">
                <a16:creationId xmlns:a16="http://schemas.microsoft.com/office/drawing/2014/main" id="{9D0A81CF-C5DF-D31C-C9A0-C8012383BF44}"/>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F0BBAF39-D0A0-09E1-5092-5EC55B6FFD84}"/>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202133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59313-B077-043D-75B3-98C54E6CEF5B}"/>
              </a:ext>
            </a:extLst>
          </p:cNvPr>
          <p:cNvSpPr>
            <a:spLocks noGrp="1"/>
          </p:cNvSpPr>
          <p:nvPr>
            <p:ph type="title"/>
          </p:nvPr>
        </p:nvSpPr>
        <p:spPr>
          <a:xfrm>
            <a:off x="630238" y="274638"/>
            <a:ext cx="7886700" cy="993775"/>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7E30B9-28AC-7CB7-2E84-8CC08AE14D85}"/>
              </a:ext>
            </a:extLst>
          </p:cNvPr>
          <p:cNvSpPr>
            <a:spLocks noGrp="1"/>
          </p:cNvSpPr>
          <p:nvPr>
            <p:ph type="body" idx="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2A3F2B-D2E9-CAEF-ECD2-64CF44FCFDA0}"/>
              </a:ext>
            </a:extLst>
          </p:cNvPr>
          <p:cNvSpPr>
            <a:spLocks noGrp="1"/>
          </p:cNvSpPr>
          <p:nvPr>
            <p:ph sz="half" idx="2"/>
          </p:nvPr>
        </p:nvSpPr>
        <p:spPr>
          <a:xfrm>
            <a:off x="630238"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9065FE-B833-E3CE-7A79-C039DCA27A3C}"/>
              </a:ext>
            </a:extLst>
          </p:cNvPr>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EAE23-4F51-DF7D-415E-D59D83F3FE72}"/>
              </a:ext>
            </a:extLst>
          </p:cNvPr>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DC6BAC-B118-4FC6-F30B-CC7669BF1D92}"/>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8" name="Footer Placeholder 7">
            <a:extLst>
              <a:ext uri="{FF2B5EF4-FFF2-40B4-BE49-F238E27FC236}">
                <a16:creationId xmlns:a16="http://schemas.microsoft.com/office/drawing/2014/main" id="{90D7A4B9-F1CF-0368-7C78-DDF5C45FC34E}"/>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AA4CBA8D-0DF7-9E8E-BF97-13CED9AB0F0B}"/>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626345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2B6E-422B-7C8D-7C8A-0214B52EAA9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90A4A2-8F30-89DE-E1B6-BE2D33FB6968}"/>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4" name="Footer Placeholder 3">
            <a:extLst>
              <a:ext uri="{FF2B5EF4-FFF2-40B4-BE49-F238E27FC236}">
                <a16:creationId xmlns:a16="http://schemas.microsoft.com/office/drawing/2014/main" id="{7D8328B4-C547-0AE7-6DCD-48775AD29F5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98318FBF-7F87-0004-A494-FCDA562C45B2}"/>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267725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C9067-C599-395D-CF5A-EF1AC9714BF8}"/>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3" name="Footer Placeholder 2">
            <a:extLst>
              <a:ext uri="{FF2B5EF4-FFF2-40B4-BE49-F238E27FC236}">
                <a16:creationId xmlns:a16="http://schemas.microsoft.com/office/drawing/2014/main" id="{2E27F8AB-F142-EECD-62FD-5E862625BE4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01F7472D-AF01-4BD7-2D79-3BDEC4A64E8B}"/>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138173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681C2-9552-3B2C-E70C-D7C193E4FD39}"/>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7C3441-6FE7-7E1D-7F7C-1E29484873B7}"/>
              </a:ext>
            </a:extLst>
          </p:cNvPr>
          <p:cNvSpPr>
            <a:spLocks noGrp="1"/>
          </p:cNvSpPr>
          <p:nvPr>
            <p:ph idx="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C518D23-2AD2-9986-CAAA-0A0CF0A69A46}"/>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E63358-2661-2B75-2B17-D6C20A7C0DD1}"/>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6" name="Footer Placeholder 5">
            <a:extLst>
              <a:ext uri="{FF2B5EF4-FFF2-40B4-BE49-F238E27FC236}">
                <a16:creationId xmlns:a16="http://schemas.microsoft.com/office/drawing/2014/main" id="{20363A38-BF04-C106-D556-E9F37D54B38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66734601-DEF5-73AC-A962-C89428EF3C70}"/>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329354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460A7-A68D-3C2A-7F9E-D2FAB513D000}"/>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4C5452-4519-8C6A-224A-440D6FDEE7ED}"/>
              </a:ext>
            </a:extLst>
          </p:cNvPr>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30205B-B789-6936-6F15-6E9D96A4C632}"/>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CFD64-D28C-1E24-D7B5-ED1249026053}"/>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6" name="Footer Placeholder 5">
            <a:extLst>
              <a:ext uri="{FF2B5EF4-FFF2-40B4-BE49-F238E27FC236}">
                <a16:creationId xmlns:a16="http://schemas.microsoft.com/office/drawing/2014/main" id="{24AB03B0-BD1A-D179-7A9B-8B1CBA32B14F}"/>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917DE86D-1F02-6D4C-2975-1BE3CC74563C}"/>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1403087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B059-6F7E-AEA9-F2A1-22C5786AA54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F23C72-842F-F6AC-64C3-2ADC52DAFAE2}"/>
              </a:ext>
            </a:extLst>
          </p:cNvPr>
          <p:cNvSpPr>
            <a:spLocks noGrp="1"/>
          </p:cNvSpPr>
          <p:nvPr>
            <p:ph type="body" orient="vert" idx="1"/>
          </p:nvPr>
        </p:nvSpPr>
        <p:spPr>
          <a:xfrm>
            <a:off x="628650" y="1370013"/>
            <a:ext cx="7886700" cy="32623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BCE9B-8C1A-D36F-B395-C3D0D48B9833}"/>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6B9DFFA8-19EC-B75D-98C3-1F4EAF5030E0}"/>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7F301FFB-B86E-E6A5-EC16-A78F5A6615D8}"/>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409753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FD3376-700C-1EC1-7CE9-CC46303649D7}"/>
              </a:ext>
            </a:extLst>
          </p:cNvPr>
          <p:cNvSpPr>
            <a:spLocks noGrp="1"/>
          </p:cNvSpPr>
          <p:nvPr>
            <p:ph type="title" orient="vert"/>
          </p:nvPr>
        </p:nvSpPr>
        <p:spPr>
          <a:xfrm>
            <a:off x="6543675" y="274638"/>
            <a:ext cx="1971675" cy="4357687"/>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B393F7-6567-F1D1-6547-8B70C98D25F2}"/>
              </a:ext>
            </a:extLst>
          </p:cNvPr>
          <p:cNvSpPr>
            <a:spLocks noGrp="1"/>
          </p:cNvSpPr>
          <p:nvPr>
            <p:ph type="body" orient="vert" idx="1"/>
          </p:nvPr>
        </p:nvSpPr>
        <p:spPr>
          <a:xfrm>
            <a:off x="628650" y="274638"/>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7D755F-2432-5C49-563D-C2E692EF8779}"/>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67C41B85-4B07-3627-EFCD-58266098C5E0}"/>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A388BEAC-F070-746F-8754-190C216BCCA6}"/>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81668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25"/>
        <p:cNvGrpSpPr/>
        <p:nvPr/>
      </p:nvGrpSpPr>
      <p:grpSpPr>
        <a:xfrm>
          <a:off x="0" y="0"/>
          <a:ext cx="0" cy="0"/>
          <a:chOff x="0" y="0"/>
          <a:chExt cx="0" cy="0"/>
        </a:xfrm>
      </p:grpSpPr>
    </p:spTree>
    <p:extLst>
      <p:ext uri="{BB962C8B-B14F-4D97-AF65-F5344CB8AC3E}">
        <p14:creationId xmlns:p14="http://schemas.microsoft.com/office/powerpoint/2010/main" val="2345194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81218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1BF9B-BE9A-DCC9-0526-2D4FD99778FF}"/>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48DFC7-B5D2-9852-B2BF-AC65A5B3BB04}"/>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CB75E6-27C1-D757-FF9B-2B127482852E}"/>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E3D408FA-9203-1839-3316-29AC843F42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724BD8-CB9D-DAE3-7C8E-764762A86AED}"/>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208057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FA65-DAF3-0116-B601-0F73326FFF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FBB089-35AE-AD7F-F357-C0C2ED157C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62E878-20B3-5E8A-4FE5-1A77959C00C9}"/>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F4B2EA7D-B898-2A1E-B210-A08598DBF6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D26AA4-FCD7-BB31-2EA4-0C44AD23CF96}"/>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4157741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EA3F-F107-CF49-0882-38B2A21940AB}"/>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A495FF-7D0A-AEE7-FFE9-4BB2123B6482}"/>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B3ABDC-B8AA-93D5-5EC7-C0FAE3AE7EA2}"/>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5D32DFFA-109D-37E1-5863-D5B1E4796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C405FF-445C-A29E-AA27-122B5DC770B7}"/>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1610862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C071-8D70-05FD-0CE3-98B123D307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45F552-8FB9-5A4D-F8BA-06145C0C7634}"/>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AD1877-AE75-07D9-E9DF-28A6A20408A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986684-4F8A-DAEE-E9C9-4B0F5EED6622}"/>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6" name="Footer Placeholder 5">
            <a:extLst>
              <a:ext uri="{FF2B5EF4-FFF2-40B4-BE49-F238E27FC236}">
                <a16:creationId xmlns:a16="http://schemas.microsoft.com/office/drawing/2014/main" id="{9CA167C7-F97C-E645-BC44-FDFCBF2BE9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A5DA0D-A586-EC93-DE3C-C5DB182A2201}"/>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1412942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9343-384A-5D2B-B9AE-8BDBF0CB80D1}"/>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EFE71A-782B-AE59-7FD1-5A74B932E12A}"/>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8D84C-0530-CDB0-BBC0-9F0FF2129309}"/>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DD5844-B534-ECC9-787C-D62535920D3A}"/>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AD51D-4A22-1716-A046-C6CD72C9E555}"/>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0CD0EA-6432-81EE-5EE7-449DE5C71D9A}"/>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8" name="Footer Placeholder 7">
            <a:extLst>
              <a:ext uri="{FF2B5EF4-FFF2-40B4-BE49-F238E27FC236}">
                <a16:creationId xmlns:a16="http://schemas.microsoft.com/office/drawing/2014/main" id="{1400756F-4588-BFA6-255F-C34276466D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691759-7146-DAC2-70E0-C09D3E69BD7D}"/>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9809027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FDFF-9DC2-FF3E-9DBF-AAE1C0777C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56517A-B1A7-8F08-161C-41658BBE3275}"/>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4" name="Footer Placeholder 3">
            <a:extLst>
              <a:ext uri="{FF2B5EF4-FFF2-40B4-BE49-F238E27FC236}">
                <a16:creationId xmlns:a16="http://schemas.microsoft.com/office/drawing/2014/main" id="{3F2F6EC8-C8CD-927A-A8FA-F3721A72DB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FB2501-9EA5-14D3-9278-0D15882E3EF6}"/>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276578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E1C365-DF6B-A277-87D7-3AEF70C3711F}"/>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3" name="Footer Placeholder 2">
            <a:extLst>
              <a:ext uri="{FF2B5EF4-FFF2-40B4-BE49-F238E27FC236}">
                <a16:creationId xmlns:a16="http://schemas.microsoft.com/office/drawing/2014/main" id="{0037EAD0-2370-28C8-77AF-E993C0FF677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7AD49D-D54B-FCBB-AE34-F74F421188F7}"/>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9680664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3EBB-4F42-B64B-F3F1-F8C14CC71D27}"/>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B9B459-09D0-0466-4114-478BB97E3EE5}"/>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3B9166-6F19-DA9A-EFA6-654CA4654C7F}"/>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D0F26-B829-5E7C-4BDD-6470BF1453CD}"/>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6" name="Footer Placeholder 5">
            <a:extLst>
              <a:ext uri="{FF2B5EF4-FFF2-40B4-BE49-F238E27FC236}">
                <a16:creationId xmlns:a16="http://schemas.microsoft.com/office/drawing/2014/main" id="{F37542AD-85A5-46AF-C50E-0801B82562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A010E9-B2EC-5042-5EA0-D77F3CC9DDF3}"/>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4087188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024D1-509C-C3E2-9433-FD9113493A9C}"/>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63D2DD-C3E5-6842-9CDC-441069711453}"/>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114C8A-E71E-35C9-5B92-176DE8A7FCB0}"/>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16F241-7B3A-4DF6-BDDF-C6F5865D75F2}"/>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6" name="Footer Placeholder 5">
            <a:extLst>
              <a:ext uri="{FF2B5EF4-FFF2-40B4-BE49-F238E27FC236}">
                <a16:creationId xmlns:a16="http://schemas.microsoft.com/office/drawing/2014/main" id="{89566984-5E8B-2ED0-0812-80F95E33A3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513FBE-D14A-5363-7B75-231789571112}"/>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897785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F018B-20DC-9BF2-8C09-2D98D28E1A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37AB07-9B49-5318-586D-70BCCC8A6A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5F4686-A3BA-0D65-329A-E12021E76570}"/>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8FAE888C-19C1-BB6E-0168-333C90392B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67694F-BCEB-130C-E95D-BF21BB0B6646}"/>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23996292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83B69E-C437-FF3A-9D59-34035BBFFD09}"/>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DD36F2-00FF-753D-6734-2AF7EF33EAB1}"/>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6A7268-60D8-C598-42C3-B9F939ACCC54}"/>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B91C3D9F-B823-F265-724D-3D4A9C9BFE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2778C-E146-2A98-43E3-3477DFF51A09}"/>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030359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5" name="Group 8">
            <a:extLst>
              <a:ext uri="{FF2B5EF4-FFF2-40B4-BE49-F238E27FC236}">
                <a16:creationId xmlns:a16="http://schemas.microsoft.com/office/drawing/2014/main" id="{5CE16B41-9AE0-6811-CB38-40C1D557BB8D}"/>
              </a:ext>
            </a:extLst>
          </p:cNvPr>
          <p:cNvGrpSpPr/>
          <p:nvPr userDrawn="1"/>
        </p:nvGrpSpPr>
        <p:grpSpPr>
          <a:xfrm>
            <a:off x="0" y="0"/>
            <a:ext cx="9144000" cy="424206"/>
            <a:chOff x="0" y="0"/>
            <a:chExt cx="4402382" cy="66464"/>
          </a:xfrm>
        </p:grpSpPr>
        <p:sp>
          <p:nvSpPr>
            <p:cNvPr id="46" name="Freeform 9">
              <a:extLst>
                <a:ext uri="{FF2B5EF4-FFF2-40B4-BE49-F238E27FC236}">
                  <a16:creationId xmlns:a16="http://schemas.microsoft.com/office/drawing/2014/main" id="{2DC730B1-A9A0-5846-FA0E-7C76E7BC8C1F}"/>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7" name="TextBox 10">
              <a:extLst>
                <a:ext uri="{FF2B5EF4-FFF2-40B4-BE49-F238E27FC236}">
                  <a16:creationId xmlns:a16="http://schemas.microsoft.com/office/drawing/2014/main" id="{8CD66830-1039-0258-6D99-917E0E14C8D9}"/>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27" name="Group 8">
            <a:extLst>
              <a:ext uri="{FF2B5EF4-FFF2-40B4-BE49-F238E27FC236}">
                <a16:creationId xmlns:a16="http://schemas.microsoft.com/office/drawing/2014/main" id="{2C29429C-8EAC-76C8-4BCA-392E093E6071}"/>
              </a:ext>
            </a:extLst>
          </p:cNvPr>
          <p:cNvGrpSpPr/>
          <p:nvPr userDrawn="1"/>
        </p:nvGrpSpPr>
        <p:grpSpPr>
          <a:xfrm>
            <a:off x="0" y="5036127"/>
            <a:ext cx="9144000" cy="107373"/>
            <a:chOff x="0" y="0"/>
            <a:chExt cx="4402382" cy="66464"/>
          </a:xfrm>
        </p:grpSpPr>
        <p:sp>
          <p:nvSpPr>
            <p:cNvPr id="28" name="Freeform 9">
              <a:extLst>
                <a:ext uri="{FF2B5EF4-FFF2-40B4-BE49-F238E27FC236}">
                  <a16:creationId xmlns:a16="http://schemas.microsoft.com/office/drawing/2014/main" id="{3516D9FB-246A-B941-D7A1-740294C5CA57}"/>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29" name="TextBox 10">
              <a:extLst>
                <a:ext uri="{FF2B5EF4-FFF2-40B4-BE49-F238E27FC236}">
                  <a16:creationId xmlns:a16="http://schemas.microsoft.com/office/drawing/2014/main" id="{D686EB00-C97A-3031-39C9-0116D5FA777C}"/>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52" name="Picture 51" descr="A black and white logo&#10;&#10;AI-generated content may be incorrect.">
            <a:extLst>
              <a:ext uri="{FF2B5EF4-FFF2-40B4-BE49-F238E27FC236}">
                <a16:creationId xmlns:a16="http://schemas.microsoft.com/office/drawing/2014/main" id="{60FBBEFD-E0CD-6C02-78E2-27F2F5BE999B}"/>
              </a:ext>
            </a:extLst>
          </p:cNvPr>
          <p:cNvPicPr>
            <a:picLocks noChangeAspect="1"/>
          </p:cNvPicPr>
          <p:nvPr userDrawn="1"/>
        </p:nvPicPr>
        <p:blipFill>
          <a:blip r:embed="rId15"/>
          <a:stretch>
            <a:fillRect/>
          </a:stretch>
        </p:blipFill>
        <p:spPr>
          <a:xfrm>
            <a:off x="7820696" y="55166"/>
            <a:ext cx="965086" cy="313873"/>
          </a:xfrm>
          <a:prstGeom prst="rect">
            <a:avLst/>
          </a:prstGeom>
        </p:spPr>
      </p:pic>
    </p:spTree>
    <p:extLst>
      <p:ext uri="{BB962C8B-B14F-4D97-AF65-F5344CB8AC3E}">
        <p14:creationId xmlns:p14="http://schemas.microsoft.com/office/powerpoint/2010/main" val="418108507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320F0D-6106-F211-E1F0-235C9515127B}"/>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053594-5ABE-5A71-F216-60DA71155BD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78D17C-F6CB-10BD-69CB-90B7D1775B4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72DAF371-35AE-88EA-78A9-9B2929D5B72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7DD9255-886B-C631-049F-E81D2F7F4D73}"/>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87AF13AC-DF95-49ED-812C-EFF416A67827}" type="slidenum">
              <a:rPr lang="en-IN" smtClean="0"/>
              <a:t>‹#›</a:t>
            </a:fld>
            <a:endParaRPr lang="en-IN"/>
          </a:p>
        </p:txBody>
      </p:sp>
      <p:pic>
        <p:nvPicPr>
          <p:cNvPr id="54" name="Picture 53" descr="A white woven seamless grid pattern">
            <a:extLst>
              <a:ext uri="{FF2B5EF4-FFF2-40B4-BE49-F238E27FC236}">
                <a16:creationId xmlns:a16="http://schemas.microsoft.com/office/drawing/2014/main" id="{336B95B5-7E98-C63C-7005-DB619E8AA3E9}"/>
              </a:ext>
            </a:extLst>
          </p:cNvPr>
          <p:cNvPicPr>
            <a:picLocks noChangeAspect="1"/>
          </p:cNvPicPr>
          <p:nvPr userDrawn="1"/>
        </p:nvPicPr>
        <p:blipFill>
          <a:blip r:embed="rId13">
            <a:alphaModFix amt="20000"/>
          </a:blip>
          <a:stretch>
            <a:fillRect/>
          </a:stretch>
        </p:blipFill>
        <p:spPr>
          <a:xfrm>
            <a:off x="0" y="0"/>
            <a:ext cx="9143999" cy="5143500"/>
          </a:xfrm>
          <a:prstGeom prst="rect">
            <a:avLst/>
          </a:prstGeom>
        </p:spPr>
      </p:pic>
    </p:spTree>
    <p:extLst>
      <p:ext uri="{BB962C8B-B14F-4D97-AF65-F5344CB8AC3E}">
        <p14:creationId xmlns:p14="http://schemas.microsoft.com/office/powerpoint/2010/main" val="158725489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jpeg"/><Relationship Id="rId7" Type="http://schemas.openxmlformats.org/officeDocument/2006/relationships/hyperlink" Target="mailto:bhumisakariya2112@gmail.com" TargetMode="External"/><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sv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E1E3E7CA-E75C-8BCB-4743-8B19F589EE9B}"/>
              </a:ext>
            </a:extLst>
          </p:cNvPr>
          <p:cNvSpPr/>
          <p:nvPr/>
        </p:nvSpPr>
        <p:spPr>
          <a:xfrm>
            <a:off x="364882" y="652908"/>
            <a:ext cx="3971824"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a:off x="0" y="0"/>
            <a:ext cx="4153368" cy="126178"/>
            <a:chOff x="0" y="0"/>
            <a:chExt cx="2187782" cy="66464"/>
          </a:xfrm>
        </p:grpSpPr>
        <p:sp>
          <p:nvSpPr>
            <p:cNvPr id="3"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p:cNvGrpSpPr/>
          <p:nvPr/>
        </p:nvGrpSpPr>
        <p:grpSpPr>
          <a:xfrm>
            <a:off x="0" y="5017322"/>
            <a:ext cx="7571294" cy="126178"/>
            <a:chOff x="0" y="0"/>
            <a:chExt cx="3988171" cy="66464"/>
          </a:xfrm>
        </p:grpSpPr>
        <p:sp>
          <p:nvSpPr>
            <p:cNvPr id="6"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p:cNvGrpSpPr/>
          <p:nvPr/>
        </p:nvGrpSpPr>
        <p:grpSpPr>
          <a:xfrm rot="2700000">
            <a:off x="3661769" y="-528997"/>
            <a:ext cx="4602320" cy="2123257"/>
            <a:chOff x="0" y="0"/>
            <a:chExt cx="2424267" cy="1118423"/>
          </a:xfrm>
        </p:grpSpPr>
        <p:sp>
          <p:nvSpPr>
            <p:cNvPr id="9"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p:cNvGrpSpPr/>
          <p:nvPr/>
        </p:nvGrpSpPr>
        <p:grpSpPr>
          <a:xfrm rot="2700000">
            <a:off x="5632358" y="303921"/>
            <a:ext cx="3724082" cy="1064394"/>
            <a:chOff x="0" y="0"/>
            <a:chExt cx="1961656" cy="560668"/>
          </a:xfrm>
        </p:grpSpPr>
        <p:sp>
          <p:nvSpPr>
            <p:cNvPr id="1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p:cNvGrpSpPr/>
          <p:nvPr/>
        </p:nvGrpSpPr>
        <p:grpSpPr>
          <a:xfrm rot="2700000">
            <a:off x="7528217" y="-892816"/>
            <a:ext cx="2873959" cy="1967021"/>
            <a:chOff x="0" y="0"/>
            <a:chExt cx="1513855" cy="1036126"/>
          </a:xfrm>
        </p:grpSpPr>
        <p:sp>
          <p:nvSpPr>
            <p:cNvPr id="15"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p:cNvGrpSpPr/>
          <p:nvPr/>
        </p:nvGrpSpPr>
        <p:grpSpPr>
          <a:xfrm rot="2700000">
            <a:off x="6756840" y="4003698"/>
            <a:ext cx="4602320" cy="2123257"/>
            <a:chOff x="0" y="0"/>
            <a:chExt cx="2424267" cy="1118423"/>
          </a:xfrm>
        </p:grpSpPr>
        <p:sp>
          <p:nvSpPr>
            <p:cNvPr id="18"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p:cNvGrpSpPr/>
          <p:nvPr/>
        </p:nvGrpSpPr>
        <p:grpSpPr>
          <a:xfrm rot="2700000">
            <a:off x="7842195" y="3672519"/>
            <a:ext cx="2166949" cy="1126189"/>
            <a:chOff x="0" y="0"/>
            <a:chExt cx="1141438" cy="593219"/>
          </a:xfrm>
        </p:grpSpPr>
        <p:sp>
          <p:nvSpPr>
            <p:cNvPr id="21"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p:cNvGrpSpPr/>
          <p:nvPr/>
        </p:nvGrpSpPr>
        <p:grpSpPr>
          <a:xfrm>
            <a:off x="5737702" y="769314"/>
            <a:ext cx="3475712" cy="3475712"/>
            <a:chOff x="0" y="0"/>
            <a:chExt cx="812800" cy="812800"/>
          </a:xfrm>
        </p:grpSpPr>
        <p:sp>
          <p:nvSpPr>
            <p:cNvPr id="24"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grpSp>
        <p:nvGrpSpPr>
          <p:cNvPr id="26" name="Group 26"/>
          <p:cNvGrpSpPr/>
          <p:nvPr/>
        </p:nvGrpSpPr>
        <p:grpSpPr>
          <a:xfrm>
            <a:off x="5937924" y="971034"/>
            <a:ext cx="3040859" cy="3040859"/>
            <a:chOff x="0" y="0"/>
            <a:chExt cx="812800" cy="812800"/>
          </a:xfrm>
        </p:grpSpPr>
        <p:sp>
          <p:nvSpPr>
            <p:cNvPr id="27" name="Freeform 27"/>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a:blip r:embed="rId3"/>
              <a:stretch>
                <a:fillRect l="-25046" r="-25046"/>
              </a:stretch>
            </a:blipFill>
            <a:ln w="171450" cap="sq">
              <a:solidFill>
                <a:srgbClr val="F3F3F3"/>
              </a:solidFill>
              <a:prstDash val="solid"/>
              <a:miter/>
            </a:ln>
          </p:spPr>
          <p:txBody>
            <a:bodyPr/>
            <a:lstStyle/>
            <a:p>
              <a:endParaRPr lang="en-IN" sz="700"/>
            </a:p>
          </p:txBody>
        </p:sp>
      </p:grpSp>
      <p:grpSp>
        <p:nvGrpSpPr>
          <p:cNvPr id="28" name="Group 28"/>
          <p:cNvGrpSpPr/>
          <p:nvPr/>
        </p:nvGrpSpPr>
        <p:grpSpPr>
          <a:xfrm>
            <a:off x="0" y="3022795"/>
            <a:ext cx="4224335" cy="394131"/>
            <a:chOff x="0" y="0"/>
            <a:chExt cx="4355842" cy="406400"/>
          </a:xfrm>
        </p:grpSpPr>
        <p:sp>
          <p:nvSpPr>
            <p:cNvPr id="29"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34"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7" name="TextBox 37"/>
          <p:cNvSpPr txBox="1"/>
          <p:nvPr/>
        </p:nvSpPr>
        <p:spPr>
          <a:xfrm>
            <a:off x="466725" y="1642450"/>
            <a:ext cx="4005098" cy="1117485"/>
          </a:xfrm>
          <a:prstGeom prst="rect">
            <a:avLst/>
          </a:prstGeom>
        </p:spPr>
        <p:txBody>
          <a:bodyPr lIns="0" tIns="0" rIns="0" bIns="0" rtlCol="0" anchor="t">
            <a:spAutoFit/>
          </a:bodyPr>
          <a:lstStyle/>
          <a:p>
            <a:pPr algn="ctr">
              <a:lnSpc>
                <a:spcPts val="4394"/>
              </a:lnSpc>
            </a:pPr>
            <a:r>
              <a:rPr lang="en-US" sz="3662" b="1" dirty="0">
                <a:solidFill>
                  <a:srgbClr val="0D358D"/>
                </a:solidFill>
                <a:latin typeface="+mj-lt"/>
                <a:ea typeface="Aileron Ultra-Bold"/>
                <a:cs typeface="Aileron Ultra-Bold"/>
                <a:sym typeface="Aileron Ultra-Bold"/>
              </a:rPr>
              <a:t>Airline Company Stats</a:t>
            </a:r>
          </a:p>
        </p:txBody>
      </p:sp>
      <p:sp>
        <p:nvSpPr>
          <p:cNvPr id="44" name="TextBox 44"/>
          <p:cNvSpPr txBox="1"/>
          <p:nvPr/>
        </p:nvSpPr>
        <p:spPr>
          <a:xfrm>
            <a:off x="466725" y="3100839"/>
            <a:ext cx="3809409" cy="243656"/>
          </a:xfrm>
          <a:prstGeom prst="rect">
            <a:avLst/>
          </a:prstGeom>
        </p:spPr>
        <p:txBody>
          <a:bodyPr lIns="0" tIns="0" rIns="0" bIns="0" rtlCol="0" anchor="t">
            <a:spAutoFit/>
          </a:bodyPr>
          <a:lstStyle/>
          <a:p>
            <a:pPr>
              <a:lnSpc>
                <a:spcPts val="1943"/>
              </a:lnSpc>
            </a:pPr>
            <a:r>
              <a:rPr lang="en-US" sz="1618" b="1" spc="583">
                <a:solidFill>
                  <a:srgbClr val="FFFFFF"/>
                </a:solidFill>
                <a:latin typeface="+mj-lt"/>
                <a:ea typeface="Aileron Bold"/>
                <a:cs typeface="Aileron Bold"/>
                <a:sym typeface="Aileron Bold"/>
              </a:rPr>
              <a:t>PRESENTATION 2026</a:t>
            </a:r>
          </a:p>
        </p:txBody>
      </p:sp>
      <p:grpSp>
        <p:nvGrpSpPr>
          <p:cNvPr id="64" name="Group 63">
            <a:extLst>
              <a:ext uri="{FF2B5EF4-FFF2-40B4-BE49-F238E27FC236}">
                <a16:creationId xmlns:a16="http://schemas.microsoft.com/office/drawing/2014/main" id="{13F280E3-480F-FB8A-7665-DA332ECA167D}"/>
              </a:ext>
            </a:extLst>
          </p:cNvPr>
          <p:cNvGrpSpPr/>
          <p:nvPr/>
        </p:nvGrpSpPr>
        <p:grpSpPr>
          <a:xfrm>
            <a:off x="188314" y="3846137"/>
            <a:ext cx="2058603" cy="778952"/>
            <a:chOff x="378050" y="4295282"/>
            <a:chExt cx="2058603" cy="660182"/>
          </a:xfrm>
        </p:grpSpPr>
        <p:sp>
          <p:nvSpPr>
            <p:cNvPr id="40" name="TextBox 40"/>
            <p:cNvSpPr txBox="1"/>
            <p:nvPr/>
          </p:nvSpPr>
          <p:spPr>
            <a:xfrm>
              <a:off x="803221" y="4295282"/>
              <a:ext cx="1633432" cy="154209"/>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Student Name</a:t>
              </a:r>
            </a:p>
          </p:txBody>
        </p:sp>
        <p:sp>
          <p:nvSpPr>
            <p:cNvPr id="42" name="TextBox 42"/>
            <p:cNvSpPr txBox="1"/>
            <p:nvPr/>
          </p:nvSpPr>
          <p:spPr>
            <a:xfrm>
              <a:off x="803221" y="4456866"/>
              <a:ext cx="1633432" cy="498598"/>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Bhumi Sakariya</a:t>
              </a:r>
            </a:p>
            <a:p>
              <a:pPr>
                <a:lnSpc>
                  <a:spcPts val="2038"/>
                </a:lnSpc>
              </a:pPr>
              <a:r>
                <a:rPr lang="en-US" b="1" dirty="0" err="1">
                  <a:solidFill>
                    <a:srgbClr val="0D358D"/>
                  </a:solidFill>
                  <a:latin typeface="+mj-lt"/>
                  <a:ea typeface="Aileron Bold"/>
                  <a:cs typeface="Aileron Bold"/>
                  <a:sym typeface="Aileron Bold"/>
                </a:rPr>
                <a:t>Bhathiwala</a:t>
              </a:r>
              <a:r>
                <a:rPr lang="en-US" b="1" dirty="0">
                  <a:solidFill>
                    <a:srgbClr val="0D358D"/>
                  </a:solidFill>
                  <a:latin typeface="+mj-lt"/>
                  <a:ea typeface="Aileron Bold"/>
                  <a:cs typeface="Aileron Bold"/>
                  <a:sym typeface="Aileron Bold"/>
                </a:rPr>
                <a:t> Heer</a:t>
              </a:r>
            </a:p>
          </p:txBody>
        </p:sp>
        <p:pic>
          <p:nvPicPr>
            <p:cNvPr id="50" name="Picture 49" descr="A blue circle with a person and a envelope in it&#10;&#10;AI-generated content may be incorrect.">
              <a:extLst>
                <a:ext uri="{FF2B5EF4-FFF2-40B4-BE49-F238E27FC236}">
                  <a16:creationId xmlns:a16="http://schemas.microsoft.com/office/drawing/2014/main" id="{D896BA5A-C1EC-A54D-25FD-EA005C313464}"/>
                </a:ext>
              </a:extLst>
            </p:cNvPr>
            <p:cNvPicPr>
              <a:picLocks noChangeAspect="1"/>
            </p:cNvPicPr>
            <p:nvPr/>
          </p:nvPicPr>
          <p:blipFill>
            <a:blip r:embed="rId6"/>
            <a:srcRect l="26757" t="2453" r="27842" b="53701"/>
            <a:stretch>
              <a:fillRect/>
            </a:stretch>
          </p:blipFill>
          <p:spPr>
            <a:xfrm>
              <a:off x="378050" y="4320144"/>
              <a:ext cx="395331" cy="381795"/>
            </a:xfrm>
            <a:prstGeom prst="rect">
              <a:avLst/>
            </a:prstGeom>
          </p:spPr>
        </p:pic>
      </p:grpSp>
      <p:grpSp>
        <p:nvGrpSpPr>
          <p:cNvPr id="65" name="Group 64">
            <a:extLst>
              <a:ext uri="{FF2B5EF4-FFF2-40B4-BE49-F238E27FC236}">
                <a16:creationId xmlns:a16="http://schemas.microsoft.com/office/drawing/2014/main" id="{B96BF95C-06D8-5024-2B53-C5B8F783D4D8}"/>
              </a:ext>
            </a:extLst>
          </p:cNvPr>
          <p:cNvGrpSpPr/>
          <p:nvPr/>
        </p:nvGrpSpPr>
        <p:grpSpPr>
          <a:xfrm>
            <a:off x="1882155" y="3869511"/>
            <a:ext cx="3197400" cy="858872"/>
            <a:chOff x="2710862" y="4295282"/>
            <a:chExt cx="2701708" cy="1337078"/>
          </a:xfrm>
        </p:grpSpPr>
        <p:sp>
          <p:nvSpPr>
            <p:cNvPr id="41" name="TextBox 41"/>
            <p:cNvSpPr txBox="1"/>
            <p:nvPr/>
          </p:nvSpPr>
          <p:spPr>
            <a:xfrm>
              <a:off x="3139699" y="4295282"/>
              <a:ext cx="1809978" cy="154209"/>
            </a:xfrm>
            <a:prstGeom prst="rect">
              <a:avLst/>
            </a:prstGeom>
          </p:spPr>
          <p:txBody>
            <a:bodyPr lIns="0" tIns="0" rIns="0" bIns="0" rtlCol="0" anchor="t">
              <a:spAutoFit/>
            </a:bodyPr>
            <a:lstStyle/>
            <a:p>
              <a:pPr>
                <a:lnSpc>
                  <a:spcPts val="1296"/>
                </a:lnSpc>
              </a:pPr>
              <a:r>
                <a:rPr lang="en-US" sz="1000">
                  <a:latin typeface="+mj-lt"/>
                  <a:ea typeface="Aileron"/>
                  <a:cs typeface="Aileron"/>
                  <a:sym typeface="Aileron"/>
                </a:rPr>
                <a:t>Student Email</a:t>
              </a:r>
            </a:p>
          </p:txBody>
        </p:sp>
        <p:sp>
          <p:nvSpPr>
            <p:cNvPr id="43" name="TextBox 43"/>
            <p:cNvSpPr txBox="1"/>
            <p:nvPr/>
          </p:nvSpPr>
          <p:spPr>
            <a:xfrm>
              <a:off x="3139699" y="4456865"/>
              <a:ext cx="2272871" cy="1175495"/>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hlinkClick r:id="rId7"/>
                </a:rPr>
                <a:t>bhumisakariya2112@gmail.com</a:t>
              </a:r>
              <a:endParaRPr lang="en-US" b="1" dirty="0">
                <a:solidFill>
                  <a:srgbClr val="0D358D"/>
                </a:solidFill>
                <a:latin typeface="+mj-lt"/>
                <a:ea typeface="Aileron Bold"/>
                <a:cs typeface="Aileron Bold"/>
                <a:sym typeface="Aileron Bold"/>
              </a:endParaRPr>
            </a:p>
            <a:p>
              <a:pPr>
                <a:lnSpc>
                  <a:spcPts val="2038"/>
                </a:lnSpc>
              </a:pPr>
              <a:r>
                <a:rPr lang="en-US" b="1" dirty="0">
                  <a:solidFill>
                    <a:srgbClr val="0D358D"/>
                  </a:solidFill>
                  <a:latin typeface="+mj-lt"/>
                  <a:ea typeface="Aileron Bold"/>
                  <a:cs typeface="Aileron Bold"/>
                  <a:sym typeface="Aileron Bold"/>
                </a:rPr>
                <a:t>heer.bhathiwala1174@gmail.com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7E9E6C5B-A5C6-680F-EFAE-D542CF58DD1B}"/>
                </a:ext>
              </a:extLst>
            </p:cNvPr>
            <p:cNvPicPr>
              <a:picLocks noChangeAspect="1"/>
            </p:cNvPicPr>
            <p:nvPr/>
          </p:nvPicPr>
          <p:blipFill>
            <a:blip r:embed="rId6"/>
            <a:srcRect l="26859" t="52379" r="26874" b="2349"/>
            <a:stretch>
              <a:fillRect/>
            </a:stretch>
          </p:blipFill>
          <p:spPr>
            <a:xfrm>
              <a:off x="2710862" y="4307522"/>
              <a:ext cx="398279" cy="389719"/>
            </a:xfrm>
            <a:prstGeom prst="rect">
              <a:avLst/>
            </a:prstGeom>
          </p:spPr>
        </p:pic>
      </p:grpSp>
      <p:grpSp>
        <p:nvGrpSpPr>
          <p:cNvPr id="66" name="Group 65">
            <a:extLst>
              <a:ext uri="{FF2B5EF4-FFF2-40B4-BE49-F238E27FC236}">
                <a16:creationId xmlns:a16="http://schemas.microsoft.com/office/drawing/2014/main" id="{989160DC-C3C0-B6C2-B7C6-7BB4689F94A9}"/>
              </a:ext>
            </a:extLst>
          </p:cNvPr>
          <p:cNvGrpSpPr/>
          <p:nvPr/>
        </p:nvGrpSpPr>
        <p:grpSpPr>
          <a:xfrm>
            <a:off x="5565057" y="3885393"/>
            <a:ext cx="1281843" cy="533784"/>
            <a:chOff x="3032537" y="4188845"/>
            <a:chExt cx="2342195" cy="473211"/>
          </a:xfrm>
        </p:grpSpPr>
        <p:sp>
          <p:nvSpPr>
            <p:cNvPr id="67" name="TextBox 41">
              <a:extLst>
                <a:ext uri="{FF2B5EF4-FFF2-40B4-BE49-F238E27FC236}">
                  <a16:creationId xmlns:a16="http://schemas.microsoft.com/office/drawing/2014/main" id="{62360B4B-896B-851F-3E0F-5B4381D9C14E}"/>
                </a:ext>
              </a:extLst>
            </p:cNvPr>
            <p:cNvSpPr txBox="1"/>
            <p:nvPr/>
          </p:nvSpPr>
          <p:spPr>
            <a:xfrm>
              <a:off x="3032537" y="4188845"/>
              <a:ext cx="1809979" cy="154209"/>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Guide</a:t>
              </a:r>
            </a:p>
          </p:txBody>
        </p:sp>
        <p:sp>
          <p:nvSpPr>
            <p:cNvPr id="68" name="TextBox 43">
              <a:extLst>
                <a:ext uri="{FF2B5EF4-FFF2-40B4-BE49-F238E27FC236}">
                  <a16:creationId xmlns:a16="http://schemas.microsoft.com/office/drawing/2014/main" id="{FB6FAC35-1B51-92AA-1EE8-3B261A88036F}"/>
                </a:ext>
              </a:extLst>
            </p:cNvPr>
            <p:cNvSpPr txBox="1"/>
            <p:nvPr/>
          </p:nvSpPr>
          <p:spPr>
            <a:xfrm>
              <a:off x="3101861" y="4447413"/>
              <a:ext cx="2272871" cy="214643"/>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Jyoti Prajapati </a:t>
              </a:r>
            </a:p>
          </p:txBody>
        </p:sp>
      </p:grpSp>
      <p:pic>
        <p:nvPicPr>
          <p:cNvPr id="71" name="Picture 70">
            <a:extLst>
              <a:ext uri="{FF2B5EF4-FFF2-40B4-BE49-F238E27FC236}">
                <a16:creationId xmlns:a16="http://schemas.microsoft.com/office/drawing/2014/main" id="{552296CF-6296-621D-F4B7-80B815F56052}"/>
              </a:ext>
            </a:extLst>
          </p:cNvPr>
          <p:cNvPicPr>
            <a:picLocks noChangeAspect="1"/>
          </p:cNvPicPr>
          <p:nvPr/>
        </p:nvPicPr>
        <p:blipFill>
          <a:blip r:embed="rId8"/>
          <a:srcRect l="28109" t="6546" r="28551" b="49509"/>
          <a:stretch>
            <a:fillRect/>
          </a:stretch>
        </p:blipFill>
        <p:spPr>
          <a:xfrm>
            <a:off x="5016112" y="3869511"/>
            <a:ext cx="474932" cy="381063"/>
          </a:xfrm>
          <a:prstGeom prst="rect">
            <a:avLst/>
          </a:prstGeom>
        </p:spPr>
      </p:pic>
      <p:grpSp>
        <p:nvGrpSpPr>
          <p:cNvPr id="74" name="Group 73">
            <a:extLst>
              <a:ext uri="{FF2B5EF4-FFF2-40B4-BE49-F238E27FC236}">
                <a16:creationId xmlns:a16="http://schemas.microsoft.com/office/drawing/2014/main" id="{7EE4957A-5586-BF65-4F43-D6BBAA7E8D26}"/>
              </a:ext>
            </a:extLst>
          </p:cNvPr>
          <p:cNvGrpSpPr/>
          <p:nvPr/>
        </p:nvGrpSpPr>
        <p:grpSpPr>
          <a:xfrm>
            <a:off x="428531" y="723117"/>
            <a:ext cx="3828596" cy="358658"/>
            <a:chOff x="317090" y="723117"/>
            <a:chExt cx="3402811" cy="318771"/>
          </a:xfrm>
        </p:grpSpPr>
        <p:pic>
          <p:nvPicPr>
            <p:cNvPr id="53" name="Picture 52" descr="A close up of a logo&#10;&#10;AI-generated content may be incorrect.">
              <a:extLst>
                <a:ext uri="{FF2B5EF4-FFF2-40B4-BE49-F238E27FC236}">
                  <a16:creationId xmlns:a16="http://schemas.microsoft.com/office/drawing/2014/main" id="{51E43D43-5F83-E033-DAEA-6F93ED19DDF1}"/>
                </a:ext>
              </a:extLst>
            </p:cNvPr>
            <p:cNvPicPr>
              <a:picLocks noChangeAspect="1"/>
            </p:cNvPicPr>
            <p:nvPr/>
          </p:nvPicPr>
          <p:blipFill>
            <a:blip r:embed="rId9"/>
            <a:srcRect t="19648" b="19158"/>
            <a:stretch>
              <a:fillRect/>
            </a:stretch>
          </p:blipFill>
          <p:spPr>
            <a:xfrm>
              <a:off x="317090" y="768985"/>
              <a:ext cx="898442" cy="202049"/>
            </a:xfrm>
            <a:prstGeom prst="rect">
              <a:avLst/>
            </a:prstGeom>
          </p:spPr>
        </p:pic>
        <p:pic>
          <p:nvPicPr>
            <p:cNvPr id="55" name="Picture 54" descr="A blue and black logo&#10;&#10;AI-generated content may be incorrect.">
              <a:extLst>
                <a:ext uri="{FF2B5EF4-FFF2-40B4-BE49-F238E27FC236}">
                  <a16:creationId xmlns:a16="http://schemas.microsoft.com/office/drawing/2014/main" id="{3BBE3A7E-2A3C-8077-3F91-5BBFD7F97488}"/>
                </a:ext>
              </a:extLst>
            </p:cNvPr>
            <p:cNvPicPr>
              <a:picLocks noChangeAspect="1"/>
            </p:cNvPicPr>
            <p:nvPr/>
          </p:nvPicPr>
          <p:blipFill>
            <a:blip r:embed="rId10"/>
            <a:stretch>
              <a:fillRect/>
            </a:stretch>
          </p:blipFill>
          <p:spPr>
            <a:xfrm>
              <a:off x="1284656" y="798128"/>
              <a:ext cx="562495" cy="141182"/>
            </a:xfrm>
            <a:prstGeom prst="rect">
              <a:avLst/>
            </a:prstGeom>
          </p:spPr>
        </p:pic>
        <p:pic>
          <p:nvPicPr>
            <p:cNvPr id="57" name="Picture 56" descr="A close up of a logo&#10;&#10;AI-generated content may be incorrect.">
              <a:extLst>
                <a:ext uri="{FF2B5EF4-FFF2-40B4-BE49-F238E27FC236}">
                  <a16:creationId xmlns:a16="http://schemas.microsoft.com/office/drawing/2014/main" id="{50A97C6C-DFC2-3140-0C76-0FFA851C1169}"/>
                </a:ext>
              </a:extLst>
            </p:cNvPr>
            <p:cNvPicPr>
              <a:picLocks noChangeAspect="1"/>
            </p:cNvPicPr>
            <p:nvPr/>
          </p:nvPicPr>
          <p:blipFill>
            <a:blip r:embed="rId11"/>
            <a:stretch>
              <a:fillRect/>
            </a:stretch>
          </p:blipFill>
          <p:spPr>
            <a:xfrm>
              <a:off x="2636460" y="792102"/>
              <a:ext cx="501675" cy="163167"/>
            </a:xfrm>
            <a:prstGeom prst="rect">
              <a:avLst/>
            </a:prstGeom>
          </p:spPr>
        </p:pic>
        <p:pic>
          <p:nvPicPr>
            <p:cNvPr id="63" name="Picture 62">
              <a:extLst>
                <a:ext uri="{FF2B5EF4-FFF2-40B4-BE49-F238E27FC236}">
                  <a16:creationId xmlns:a16="http://schemas.microsoft.com/office/drawing/2014/main" id="{64405440-5190-BB7E-1D18-69013C3A84C6}"/>
                </a:ext>
              </a:extLst>
            </p:cNvPr>
            <p:cNvPicPr>
              <a:picLocks noChangeAspect="1"/>
            </p:cNvPicPr>
            <p:nvPr/>
          </p:nvPicPr>
          <p:blipFill>
            <a:blip r:embed="rId12"/>
            <a:stretch>
              <a:fillRect/>
            </a:stretch>
          </p:blipFill>
          <p:spPr>
            <a:xfrm>
              <a:off x="3398442" y="792102"/>
              <a:ext cx="321459" cy="164179"/>
            </a:xfrm>
            <a:prstGeom prst="rect">
              <a:avLst/>
            </a:prstGeom>
          </p:spPr>
        </p:pic>
        <p:pic>
          <p:nvPicPr>
            <p:cNvPr id="73" name="Picture 72" descr="A black and white image&#10;&#10;AI-generated content may be incorrect.">
              <a:extLst>
                <a:ext uri="{FF2B5EF4-FFF2-40B4-BE49-F238E27FC236}">
                  <a16:creationId xmlns:a16="http://schemas.microsoft.com/office/drawing/2014/main" id="{7639476C-F768-1393-1AB4-8183D5D0A318}"/>
                </a:ext>
              </a:extLst>
            </p:cNvPr>
            <p:cNvPicPr>
              <a:picLocks noChangeAspect="1"/>
            </p:cNvPicPr>
            <p:nvPr/>
          </p:nvPicPr>
          <p:blipFill>
            <a:blip r:embed="rId13"/>
            <a:srcRect t="19206" b="17252"/>
            <a:stretch>
              <a:fillRect/>
            </a:stretch>
          </p:blipFill>
          <p:spPr>
            <a:xfrm>
              <a:off x="2023625" y="723117"/>
              <a:ext cx="501676" cy="318771"/>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advTm="127500"/>
    </mc:Choice>
    <mc:Fallback>
      <p:transition spd="slow" advTm="1275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TextBox 1174">
            <a:extLst>
              <a:ext uri="{FF2B5EF4-FFF2-40B4-BE49-F238E27FC236}">
                <a16:creationId xmlns:a16="http://schemas.microsoft.com/office/drawing/2014/main" id="{927410B5-1C26-2D39-1160-ABCF2EAFC484}"/>
              </a:ext>
            </a:extLst>
          </p:cNvPr>
          <p:cNvSpPr txBox="1"/>
          <p:nvPr/>
        </p:nvSpPr>
        <p:spPr>
          <a:xfrm>
            <a:off x="133070" y="629133"/>
            <a:ext cx="462421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rgbClr val="002060"/>
                </a:solidFill>
                <a:latin typeface="Arial" panose="020B0604020202020204" pitchFamily="34" charset="0"/>
                <a:cs typeface="Arial" panose="020B0604020202020204" pitchFamily="34" charset="0"/>
              </a:rPr>
              <a:t>OUTLINE</a:t>
            </a:r>
            <a:endParaRPr lang="en-US" sz="2200" b="1"/>
          </a:p>
        </p:txBody>
      </p:sp>
      <p:sp>
        <p:nvSpPr>
          <p:cNvPr id="4" name="TextBox 3">
            <a:extLst>
              <a:ext uri="{FF2B5EF4-FFF2-40B4-BE49-F238E27FC236}">
                <a16:creationId xmlns:a16="http://schemas.microsoft.com/office/drawing/2014/main" id="{E1494DD5-904E-76E9-38C0-10A35CC5BDD0}"/>
              </a:ext>
            </a:extLst>
          </p:cNvPr>
          <p:cNvSpPr txBox="1"/>
          <p:nvPr/>
        </p:nvSpPr>
        <p:spPr>
          <a:xfrm>
            <a:off x="125239" y="1104923"/>
            <a:ext cx="4446761" cy="2646878"/>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mj-lt"/>
                <a:ea typeface="Times New Roman" panose="02020603050405020304" pitchFamily="18" charset="0"/>
                <a:cs typeface="Times New Roman" panose="02020603050405020304" pitchFamily="18" charset="0"/>
              </a:rPr>
              <a:t>Abstract of the Project</a:t>
            </a:r>
            <a:endParaRPr lang="en-IN" sz="1800" dirty="0">
              <a:solidFill>
                <a:schemeClr val="tx1"/>
              </a:solidFill>
              <a:latin typeface="+mj-lt"/>
              <a:ea typeface="Times New Roman" panose="02020603050405020304" pitchFamily="18" charset="0"/>
              <a:cs typeface="Times New Roman" panose="02020603050405020304" pitchFamily="18" charset="0"/>
            </a:endParaRPr>
          </a:p>
          <a:p>
            <a:pPr marL="228600" indent="-228600">
              <a:spcAft>
                <a:spcPts val="800"/>
              </a:spcAft>
              <a:buFont typeface="Arial" panose="020B0604020202020204" pitchFamily="34" charset="0"/>
              <a:buChar char="•"/>
              <a:tabLst>
                <a:tab pos="4229100" algn="ctr"/>
              </a:tabLst>
            </a:pPr>
            <a:r>
              <a:rPr lang="en-US" sz="1800" dirty="0">
                <a:latin typeface="+mj-lt"/>
                <a:ea typeface="+mn-lt"/>
                <a:cs typeface="Arial"/>
              </a:rPr>
              <a:t>Problem Statement</a:t>
            </a:r>
            <a:endParaRPr lang="en-US" sz="1800" dirty="0">
              <a:latin typeface="+mj-lt"/>
              <a:ea typeface="+mn-lt"/>
            </a:endParaRPr>
          </a:p>
          <a:p>
            <a:pPr marL="228600" indent="-228600">
              <a:spcAft>
                <a:spcPts val="800"/>
              </a:spcAft>
              <a:buFont typeface="Arial" panose="020B0604020202020204" pitchFamily="34" charset="0"/>
              <a:buChar char="•"/>
              <a:tabLst>
                <a:tab pos="4229100" algn="ctr"/>
              </a:tabLst>
            </a:pPr>
            <a:r>
              <a:rPr lang="en-US" sz="1800" dirty="0">
                <a:latin typeface="+mj-lt"/>
                <a:ea typeface="+mn-lt"/>
                <a:cs typeface="Arial"/>
              </a:rPr>
              <a:t>Proposed Solution</a:t>
            </a:r>
            <a:endParaRPr lang="en-US" sz="1800" dirty="0">
              <a:latin typeface="+mj-lt"/>
              <a:ea typeface="+mn-lt"/>
            </a:endParaRPr>
          </a:p>
          <a:p>
            <a:pPr marL="228600" indent="-228600">
              <a:spcAft>
                <a:spcPts val="800"/>
              </a:spcAft>
              <a:buFont typeface="Arial" panose="020B0604020202020204" pitchFamily="34" charset="0"/>
              <a:buChar char="•"/>
              <a:tabLst>
                <a:tab pos="4229100" algn="ctr"/>
              </a:tabLst>
            </a:pPr>
            <a:r>
              <a:rPr lang="en-US" sz="1800" dirty="0">
                <a:latin typeface="+mj-lt"/>
                <a:ea typeface="+mn-lt"/>
                <a:cs typeface="+mn-lt"/>
              </a:rPr>
              <a:t>System Architecture</a:t>
            </a:r>
            <a:endParaRPr lang="en-US" sz="1800" dirty="0">
              <a:latin typeface="+mj-lt"/>
              <a:ea typeface="+mn-lt"/>
              <a:cs typeface="Calibri"/>
            </a:endParaRPr>
          </a:p>
          <a:p>
            <a:pPr marL="228600" indent="-228600">
              <a:spcAft>
                <a:spcPts val="800"/>
              </a:spcAft>
              <a:buFont typeface="Arial" panose="020B0604020202020204" pitchFamily="34" charset="0"/>
              <a:buChar char="•"/>
              <a:tabLst>
                <a:tab pos="4229100" algn="ctr"/>
              </a:tabLst>
            </a:pPr>
            <a:r>
              <a:rPr lang="en-US" sz="1800" dirty="0">
                <a:latin typeface="+mj-lt"/>
                <a:ea typeface="+mn-lt"/>
                <a:cs typeface="Arial"/>
              </a:rPr>
              <a:t>Live Demo of the Project</a:t>
            </a:r>
          </a:p>
          <a:p>
            <a:pPr marL="228600" indent="-228600">
              <a:spcAft>
                <a:spcPts val="800"/>
              </a:spcAft>
              <a:buFont typeface="Arial" panose="020B0604020202020204" pitchFamily="34" charset="0"/>
              <a:buChar char="•"/>
              <a:tabLst>
                <a:tab pos="4229100" algn="ctr"/>
              </a:tabLst>
            </a:pPr>
            <a:r>
              <a:rPr lang="en-IN" sz="1800" dirty="0">
                <a:latin typeface="+mj-lt"/>
                <a:ea typeface="+mn-lt"/>
                <a:cs typeface="Arial"/>
              </a:rPr>
              <a:t>Conclusion</a:t>
            </a:r>
            <a:endParaRPr lang="en-IN" sz="1800" dirty="0">
              <a:latin typeface="+mj-lt"/>
              <a:ea typeface="+mn-lt"/>
            </a:endParaRPr>
          </a:p>
          <a:p>
            <a:pPr marL="228600" indent="-228600">
              <a:spcAft>
                <a:spcPts val="800"/>
              </a:spcAft>
              <a:buFont typeface="Arial" panose="020B0604020202020204" pitchFamily="34" charset="0"/>
              <a:buChar char="•"/>
              <a:tabLst>
                <a:tab pos="4229100" algn="ctr"/>
              </a:tabLst>
            </a:pPr>
            <a:r>
              <a:rPr lang="en-US" sz="1800" dirty="0">
                <a:latin typeface="+mj-lt"/>
                <a:ea typeface="+mn-lt"/>
                <a:cs typeface="Arial"/>
              </a:rPr>
              <a:t>Future Scope</a:t>
            </a:r>
          </a:p>
        </p:txBody>
      </p:sp>
      <p:pic>
        <p:nvPicPr>
          <p:cNvPr id="3" name="Picture 2" descr="A screen shot of a computer&#10;&#10;AI-generated content may be incorrect.">
            <a:extLst>
              <a:ext uri="{FF2B5EF4-FFF2-40B4-BE49-F238E27FC236}">
                <a16:creationId xmlns:a16="http://schemas.microsoft.com/office/drawing/2014/main" id="{D2691F39-1D30-06E0-DC39-BAC5AA2F9CCA}"/>
              </a:ext>
            </a:extLst>
          </p:cNvPr>
          <p:cNvPicPr>
            <a:picLocks noChangeAspect="1"/>
          </p:cNvPicPr>
          <p:nvPr/>
        </p:nvPicPr>
        <p:blipFill>
          <a:blip r:embed="rId3"/>
          <a:srcRect l="25250" t="7320" r="18976" b="28715"/>
          <a:stretch>
            <a:fillRect/>
          </a:stretch>
        </p:blipFill>
        <p:spPr>
          <a:xfrm>
            <a:off x="5586642" y="840676"/>
            <a:ext cx="2868706" cy="3290047"/>
          </a:xfrm>
          <a:prstGeom prst="rect">
            <a:avLst/>
          </a:prstGeom>
        </p:spPr>
      </p:pic>
    </p:spTree>
    <p:extLst>
      <p:ext uri="{BB962C8B-B14F-4D97-AF65-F5344CB8AC3E}">
        <p14:creationId xmlns:p14="http://schemas.microsoft.com/office/powerpoint/2010/main" val="12530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8195-9B03-00E3-45B8-00FA85409CCC}"/>
              </a:ext>
            </a:extLst>
          </p:cNvPr>
          <p:cNvSpPr>
            <a:spLocks noGrp="1"/>
          </p:cNvSpPr>
          <p:nvPr>
            <p:ph type="title" idx="4294967295"/>
          </p:nvPr>
        </p:nvSpPr>
        <p:spPr>
          <a:xfrm>
            <a:off x="143433" y="641258"/>
            <a:ext cx="8520113" cy="4318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Abstract</a:t>
            </a:r>
            <a:endParaRPr lang="en-IN" sz="2200" b="1"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1273AE0-6276-1E72-A3CA-E2B90DE65B48}"/>
              </a:ext>
            </a:extLst>
          </p:cNvPr>
          <p:cNvSpPr txBox="1"/>
          <p:nvPr/>
        </p:nvSpPr>
        <p:spPr>
          <a:xfrm>
            <a:off x="125239" y="110492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latin typeface="Arial" panose="020B0604020202020204" pitchFamily="34" charset="0"/>
                <a:ea typeface="Times New Roman" panose="02020603050405020304" pitchFamily="18" charset="0"/>
                <a:cs typeface="Arial" panose="020B0604020202020204" pitchFamily="34" charset="0"/>
              </a:rPr>
              <a:t>Introduction</a:t>
            </a:r>
            <a:endParaRPr lang="en-IN" sz="1800"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Overview</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Objectives</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Methodology</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Key Findings</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Arial" panose="020B0604020202020204"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Future Scope</a:t>
            </a:r>
          </a:p>
        </p:txBody>
      </p:sp>
      <p:pic>
        <p:nvPicPr>
          <p:cNvPr id="4" name="Picture 3" descr="A screen shot of a computer&#10;&#10;AI-generated content may be incorrect.">
            <a:extLst>
              <a:ext uri="{FF2B5EF4-FFF2-40B4-BE49-F238E27FC236}">
                <a16:creationId xmlns:a16="http://schemas.microsoft.com/office/drawing/2014/main" id="{9B5FB4B4-53CD-021B-63B8-C4341308F360}"/>
              </a:ext>
            </a:extLst>
          </p:cNvPr>
          <p:cNvPicPr>
            <a:picLocks noChangeAspect="1"/>
          </p:cNvPicPr>
          <p:nvPr/>
        </p:nvPicPr>
        <p:blipFill>
          <a:blip r:embed="rId2"/>
          <a:srcRect l="25250" t="7320" r="18976" b="28715"/>
          <a:stretch>
            <a:fillRect/>
          </a:stretch>
        </p:blipFill>
        <p:spPr>
          <a:xfrm>
            <a:off x="5586642" y="741218"/>
            <a:ext cx="2868706" cy="3389505"/>
          </a:xfrm>
          <a:prstGeom prst="rect">
            <a:avLst/>
          </a:prstGeom>
        </p:spPr>
      </p:pic>
    </p:spTree>
    <p:extLst>
      <p:ext uri="{BB962C8B-B14F-4D97-AF65-F5344CB8AC3E}">
        <p14:creationId xmlns:p14="http://schemas.microsoft.com/office/powerpoint/2010/main" val="49215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6BA7-F9F6-99C1-A824-303E4BD902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045592-77A4-6BA6-32C7-622FF38F0652}"/>
              </a:ext>
            </a:extLst>
          </p:cNvPr>
          <p:cNvSpPr txBox="1"/>
          <p:nvPr/>
        </p:nvSpPr>
        <p:spPr>
          <a:xfrm>
            <a:off x="533948" y="689287"/>
            <a:ext cx="4446761" cy="2944396"/>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Times New Roman" panose="02020603050405020304" pitchFamily="18" charset="0"/>
                <a:cs typeface="Arial" panose="020B0604020202020204" pitchFamily="34" charset="0"/>
              </a:rPr>
              <a:t>Introduction</a:t>
            </a: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a:spcAft>
                <a:spcPts val="800"/>
              </a:spcAft>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 This Airline Performance Dashboard provides a concise analysis of the Indian aviation market, tracking RS 2M in total revenue and an average customer rating of 3.28. By visualizing key metrics across major carriers like Air India and Vistara, the report highlights the relationship between ticket pricing, flight timing, and service class. It offers a clear geographic and financial breakdown, helping stakeholders identify high-value routes and compare the market share of premium versus budget airlines.</a:t>
            </a:r>
          </a:p>
          <a:p>
            <a:pPr>
              <a:spcAft>
                <a:spcPts val="800"/>
              </a:spcAft>
              <a:tabLst>
                <a:tab pos="4229100" algn="ctr"/>
              </a:tabLst>
            </a:pPr>
            <a:endParaRPr lang="en-IN" b="1" dirty="0">
              <a:solidFill>
                <a:srgbClr val="223366"/>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4110631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CAE87-C770-FF28-7F92-0E85C25AB5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A2E9D6-A3FF-1007-F541-B6A389E8CF45}"/>
              </a:ext>
            </a:extLst>
          </p:cNvPr>
          <p:cNvSpPr txBox="1"/>
          <p:nvPr/>
        </p:nvSpPr>
        <p:spPr>
          <a:xfrm>
            <a:off x="540875" y="1007943"/>
            <a:ext cx="4446761" cy="219547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Overview :</a:t>
            </a:r>
          </a:p>
          <a:p>
            <a:pPr>
              <a:spcAft>
                <a:spcPts val="800"/>
              </a:spcAft>
              <a:tabLst>
                <a:tab pos="4229100" algn="ctr"/>
              </a:tabLst>
            </a:pPr>
            <a:r>
              <a:rPr lang="en-US" dirty="0">
                <a:latin typeface="Arial" panose="020B0604020202020204" pitchFamily="34" charset="0"/>
                <a:ea typeface="+mn-lt"/>
                <a:cs typeface="Arial" panose="020B0604020202020204" pitchFamily="34" charset="0"/>
              </a:rPr>
              <a:t>This project presents an interactive business intelligence dashboard developed in Power BI to analyze airline industry metrics , specifically focus on pricing strategies, customers rating  and flight duration across major Indian cities . By synthesizing complex datasets into visual insights , the project aims to identify the relationship between flight class, carrier reputation , and cost efficiency.</a:t>
            </a:r>
          </a:p>
        </p:txBody>
      </p:sp>
    </p:spTree>
    <p:extLst>
      <p:ext uri="{BB962C8B-B14F-4D97-AF65-F5344CB8AC3E}">
        <p14:creationId xmlns:p14="http://schemas.microsoft.com/office/powerpoint/2010/main" val="96883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3913-FE0E-F5E8-1C0A-F0EC09EF74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91DDE3-7C2A-51A7-BB20-B7F2130AD5BE}"/>
              </a:ext>
            </a:extLst>
          </p:cNvPr>
          <p:cNvSpPr txBox="1"/>
          <p:nvPr/>
        </p:nvSpPr>
        <p:spPr>
          <a:xfrm>
            <a:off x="263784" y="987159"/>
            <a:ext cx="4446761" cy="314958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Objectives :</a:t>
            </a:r>
          </a:p>
          <a:p>
            <a:pPr>
              <a:spcAft>
                <a:spcPts val="800"/>
              </a:spcAft>
              <a:tabLst>
                <a:tab pos="4229100" algn="ctr"/>
              </a:tabLst>
            </a:pPr>
            <a:r>
              <a:rPr lang="en-US" dirty="0">
                <a:solidFill>
                  <a:schemeClr val="tx1"/>
                </a:solidFill>
                <a:latin typeface="Arial" panose="020B0604020202020204" pitchFamily="34" charset="0"/>
                <a:ea typeface="+mn-lt"/>
                <a:cs typeface="Arial" panose="020B0604020202020204" pitchFamily="34" charset="0"/>
              </a:rPr>
              <a:t>The primary goal was to explore how airline pricing fluctuates based on service class , destination , and departure timing . Specifically, the analysis  sought to determine: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The impact of Flight Class (Business VS Economy) on the total revenue share.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The correlation between Customer Ratings and airline performance.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Price variation across key metropolitan hubs including Bangalore , Delhi , Hyderabad , Kolkata , and Mumbai.</a:t>
            </a:r>
          </a:p>
        </p:txBody>
      </p:sp>
    </p:spTree>
    <p:extLst>
      <p:ext uri="{BB962C8B-B14F-4D97-AF65-F5344CB8AC3E}">
        <p14:creationId xmlns:p14="http://schemas.microsoft.com/office/powerpoint/2010/main" val="354288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2E7AD-1C5B-446C-8735-A34558BF61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7C3603-2D9D-8F90-43A2-ECFB9F37B100}"/>
              </a:ext>
            </a:extLst>
          </p:cNvPr>
          <p:cNvSpPr txBox="1"/>
          <p:nvPr/>
        </p:nvSpPr>
        <p:spPr>
          <a:xfrm>
            <a:off x="256857" y="703141"/>
            <a:ext cx="4446761" cy="389850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Methodology:</a:t>
            </a:r>
            <a:endParaRPr lang="en-US" sz="1800" b="1" dirty="0">
              <a:solidFill>
                <a:schemeClr val="tx1"/>
              </a:solidFill>
              <a:latin typeface="Arial" panose="020B0604020202020204" pitchFamily="34" charset="0"/>
              <a:ea typeface="+mn-lt"/>
              <a:cs typeface="Arial" panose="020B0604020202020204" pitchFamily="34" charset="0"/>
            </a:endParaRPr>
          </a:p>
          <a:p>
            <a:pPr>
              <a:spcAft>
                <a:spcPts val="800"/>
              </a:spcAft>
              <a:tabLst>
                <a:tab pos="4229100" algn="ctr"/>
              </a:tabLst>
            </a:pPr>
            <a:r>
              <a:rPr lang="en-US" dirty="0">
                <a:solidFill>
                  <a:schemeClr val="tx1"/>
                </a:solidFill>
                <a:latin typeface="Arial" panose="020B0604020202020204" pitchFamily="34" charset="0"/>
                <a:ea typeface="+mn-lt"/>
                <a:cs typeface="Arial" panose="020B0604020202020204" pitchFamily="34" charset="0"/>
              </a:rPr>
              <a:t>The data was processed and visualized using a variety of analytical charts . Key performance indicators like Average Rating (3.28), Total Revenue (RS.2M),and Price Ranges (RS.5000 to 18000) were established as baseline metrics. The dashboard utilize: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Donut &amp; Pie Charts for market share of classes and airline ratings.</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Bar &amp; Column Charts for price distribution by airline and city.</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Geospatial Mapping to visualize flight route and destination density.</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Slicers for real-time filtering by departure time, source city, and destination.</a:t>
            </a:r>
            <a:endParaRPr lang="en-US" dirty="0">
              <a:solidFill>
                <a:srgbClr val="223366"/>
              </a:solidFill>
              <a:latin typeface="Arial" panose="020B0604020202020204" pitchFamily="34" charset="0"/>
              <a:ea typeface="+mn-lt"/>
              <a:cs typeface="Arial" panose="020B0604020202020204" pitchFamily="34" charset="0"/>
            </a:endParaRPr>
          </a:p>
        </p:txBody>
      </p:sp>
    </p:spTree>
    <p:extLst>
      <p:ext uri="{BB962C8B-B14F-4D97-AF65-F5344CB8AC3E}">
        <p14:creationId xmlns:p14="http://schemas.microsoft.com/office/powerpoint/2010/main" val="3025607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71780-4F0D-A7FA-79AE-605F75B03C4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D5F22F-C566-A4D3-5988-D99CFB610FEB}"/>
              </a:ext>
            </a:extLst>
          </p:cNvPr>
          <p:cNvSpPr txBox="1"/>
          <p:nvPr/>
        </p:nvSpPr>
        <p:spPr>
          <a:xfrm>
            <a:off x="450820" y="1017478"/>
            <a:ext cx="4446761" cy="310854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Key Findings:</a:t>
            </a:r>
          </a:p>
          <a:p>
            <a:pPr>
              <a:spcAft>
                <a:spcPts val="800"/>
              </a:spcAft>
              <a:tabLst>
                <a:tab pos="4229100" algn="ctr"/>
              </a:tabLst>
            </a:pPr>
            <a:r>
              <a:rPr lang="en-US" dirty="0">
                <a:solidFill>
                  <a:schemeClr val="tx1"/>
                </a:solidFill>
                <a:latin typeface="Arial" panose="020B0604020202020204" pitchFamily="34" charset="0"/>
                <a:ea typeface="+mn-lt"/>
                <a:cs typeface="Arial" panose="020B0604020202020204" pitchFamily="34" charset="0"/>
              </a:rPr>
              <a:t>The analysis reveals that while Business Class accounts for a significant portion of pricing (approx. 32%), Economy Class remains the volume driver at 67%. Air India and Vistara emerge as dominant players in terms of rating distribution. Furthermore, pricing data indicates that destination cities like Mumbai and Bangalore  command the highest a average ticket prices, reflecting high-demand corridors.</a:t>
            </a:r>
          </a:p>
          <a:p>
            <a:pPr>
              <a:spcAft>
                <a:spcPts val="800"/>
              </a:spcAft>
              <a:tabLst>
                <a:tab pos="4229100" algn="ctr"/>
              </a:tabLst>
            </a:pPr>
            <a:endParaRPr lang="en-US" dirty="0">
              <a:solidFill>
                <a:schemeClr val="tx1"/>
              </a:solidFill>
              <a:latin typeface="Arial" panose="020B0604020202020204"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endParaRPr lang="en-US" sz="1800" b="1" dirty="0">
              <a:latin typeface="Arial" panose="020B0604020202020204" pitchFamily="34" charset="0"/>
              <a:ea typeface="+mn-lt"/>
              <a:cs typeface="Arial" panose="020B0604020202020204" pitchFamily="34" charset="0"/>
            </a:endParaRPr>
          </a:p>
        </p:txBody>
      </p:sp>
    </p:spTree>
    <p:extLst>
      <p:ext uri="{BB962C8B-B14F-4D97-AF65-F5344CB8AC3E}">
        <p14:creationId xmlns:p14="http://schemas.microsoft.com/office/powerpoint/2010/main" val="689271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2E813-CB30-52BE-482F-A822E8D42EA5}"/>
              </a:ext>
            </a:extLst>
          </p:cNvPr>
          <p:cNvSpPr>
            <a:spLocks noGrp="1"/>
          </p:cNvSpPr>
          <p:nvPr>
            <p:ph type="title" idx="4294967295"/>
          </p:nvPr>
        </p:nvSpPr>
        <p:spPr>
          <a:xfrm>
            <a:off x="413026" y="482072"/>
            <a:ext cx="4979897" cy="573088"/>
          </a:xfrm>
          <a:prstGeom prst="rect">
            <a:avLst/>
          </a:prstGeom>
        </p:spPr>
        <p:txBody>
          <a:bodyPr anchor="ctr"/>
          <a:lstStyle/>
          <a:p>
            <a:pPr>
              <a:lnSpc>
                <a:spcPct val="100000"/>
              </a:lnSpc>
            </a:pPr>
            <a:r>
              <a:rPr lang="en-US" sz="2200" b="1" dirty="0">
                <a:solidFill>
                  <a:srgbClr val="002060"/>
                </a:solidFill>
                <a:latin typeface="Arial" panose="020B0604020202020204" pitchFamily="34" charset="0"/>
                <a:cs typeface="Arial" panose="020B0604020202020204" pitchFamily="34" charset="0"/>
              </a:rPr>
              <a:t>Problem</a:t>
            </a:r>
            <a:r>
              <a:rPr lang="en-US" sz="2200" b="1" dirty="0">
                <a:solidFill>
                  <a:schemeClr val="accent1"/>
                </a:solidFill>
                <a:latin typeface="Arial" panose="020B0604020202020204" pitchFamily="34" charset="0"/>
                <a:cs typeface="Arial" panose="020B0604020202020204" pitchFamily="34" charset="0"/>
              </a:rPr>
              <a:t> </a:t>
            </a:r>
            <a:r>
              <a:rPr lang="en-US" sz="2200" b="1" dirty="0">
                <a:solidFill>
                  <a:srgbClr val="002060"/>
                </a:solidFill>
                <a:latin typeface="Arial" panose="020B0604020202020204" pitchFamily="34" charset="0"/>
                <a:cs typeface="Arial" panose="020B0604020202020204" pitchFamily="34" charset="0"/>
              </a:rPr>
              <a:t>Statement</a:t>
            </a:r>
            <a:endParaRPr lang="en-IN" sz="2200" b="1"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B7091E3-E2C0-5911-65FA-9EA880BDEFB7}"/>
              </a:ext>
            </a:extLst>
          </p:cNvPr>
          <p:cNvSpPr txBox="1"/>
          <p:nvPr/>
        </p:nvSpPr>
        <p:spPr>
          <a:xfrm>
            <a:off x="267553" y="1215759"/>
            <a:ext cx="4446761" cy="287258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Price Transparency: Simplifies the massive gap between the minimum ($5,000) and maximum ($18,000) ticket costs.</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Value Assessment: Checks if expensive airlines actually earn the best customer ratings.</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Revenue Mix: Identifies how much profit comes from Business vs. Economy class.</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Route Hotspots: Pinpoints which cities (like Mumbai) are the most expensive to fly into.</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Impact: Shows how departure times (Morning vs. Night) affect the average ticket price.</a:t>
            </a:r>
            <a:endParaRPr lang="en-US" dirty="0">
              <a:latin typeface="Arial" panose="020B0604020202020204" pitchFamily="34" charset="0"/>
              <a:ea typeface="+mn-lt"/>
              <a:cs typeface="Arial" panose="020B0604020202020204" pitchFamily="34" charset="0"/>
            </a:endParaRPr>
          </a:p>
        </p:txBody>
      </p:sp>
      <p:pic>
        <p:nvPicPr>
          <p:cNvPr id="5" name="Picture 4" descr="A red person with a question mark above white puzzle pieces&#10;&#10;AI-generated content may be incorrect.">
            <a:extLst>
              <a:ext uri="{FF2B5EF4-FFF2-40B4-BE49-F238E27FC236}">
                <a16:creationId xmlns:a16="http://schemas.microsoft.com/office/drawing/2014/main" id="{8B5E6C15-7743-1376-D7BF-A9923BB2932A}"/>
              </a:ext>
            </a:extLst>
          </p:cNvPr>
          <p:cNvPicPr>
            <a:picLocks noChangeAspect="1"/>
          </p:cNvPicPr>
          <p:nvPr/>
        </p:nvPicPr>
        <p:blipFill>
          <a:blip r:embed="rId2"/>
          <a:srcRect l="6427" t="6623" r="7119" b="24880"/>
          <a:stretch>
            <a:fillRect/>
          </a:stretch>
        </p:blipFill>
        <p:spPr>
          <a:xfrm>
            <a:off x="4429686" y="829656"/>
            <a:ext cx="4446761" cy="3523129"/>
          </a:xfrm>
          <a:prstGeom prst="rect">
            <a:avLst/>
          </a:prstGeom>
        </p:spPr>
      </p:pic>
    </p:spTree>
    <p:extLst>
      <p:ext uri="{BB962C8B-B14F-4D97-AF65-F5344CB8AC3E}">
        <p14:creationId xmlns:p14="http://schemas.microsoft.com/office/powerpoint/2010/main" val="3401695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745DE-B712-F06B-67FA-D3D7D6FBF5DF}"/>
              </a:ext>
            </a:extLst>
          </p:cNvPr>
          <p:cNvSpPr>
            <a:spLocks noGrp="1"/>
          </p:cNvSpPr>
          <p:nvPr>
            <p:ph type="ctrTitle"/>
          </p:nvPr>
        </p:nvSpPr>
        <p:spPr>
          <a:xfrm>
            <a:off x="616528" y="910648"/>
            <a:ext cx="3054927"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Proposed Solution</a:t>
            </a:r>
            <a:endParaRPr lang="en-IN" sz="2200" b="1" dirty="0">
              <a:solidFill>
                <a:srgbClr val="002060"/>
              </a:solidFill>
              <a:latin typeface="Arial" panose="020B0604020202020204" pitchFamily="34" charset="0"/>
              <a:cs typeface="Arial" panose="020B0604020202020204" pitchFamily="34" charset="0"/>
            </a:endParaRPr>
          </a:p>
        </p:txBody>
      </p:sp>
      <p:sp>
        <p:nvSpPr>
          <p:cNvPr id="4" name="Subtitle 3">
            <a:extLst>
              <a:ext uri="{FF2B5EF4-FFF2-40B4-BE49-F238E27FC236}">
                <a16:creationId xmlns:a16="http://schemas.microsoft.com/office/drawing/2014/main" id="{2E13694D-0F3D-52AB-2654-6E4E5B4BC2E8}"/>
              </a:ext>
            </a:extLst>
          </p:cNvPr>
          <p:cNvSpPr>
            <a:spLocks noGrp="1"/>
          </p:cNvSpPr>
          <p:nvPr>
            <p:ph type="subTitle" idx="1"/>
          </p:nvPr>
        </p:nvSpPr>
        <p:spPr>
          <a:xfrm>
            <a:off x="616528" y="1517073"/>
            <a:ext cx="3865418" cy="2840182"/>
          </a:xfrm>
        </p:spPr>
        <p:txBody>
          <a:bodyPr/>
          <a:lstStyle/>
          <a:p>
            <a:pPr algn="l"/>
            <a:r>
              <a:rPr lang="en-US" sz="1400" dirty="0"/>
              <a:t>This project provides a Data-Driven Decision Hub for the Indian aviation market. It solves the problem of high price volatility (₹5k–₹18k) by mapping exactly how class, timing, and carrier choice impact costs. By identifying Vistara and Air India as premium value leaders and Mumbai/Bangalore as high-cost zones, the dashboard allows travelers to optimize their spend. The ultimate solution moves from static analysis to AI-powered forecasting, using machine learning to predict price drops and automate booking for maximum savings.</a:t>
            </a:r>
            <a:endParaRPr lang="en-IN" sz="1400" dirty="0"/>
          </a:p>
        </p:txBody>
      </p:sp>
      <p:pic>
        <p:nvPicPr>
          <p:cNvPr id="5" name="Picture 4" descr="A person pushing a red arrow&#10;&#10;AI-generated content may be incorrect.">
            <a:extLst>
              <a:ext uri="{FF2B5EF4-FFF2-40B4-BE49-F238E27FC236}">
                <a16:creationId xmlns:a16="http://schemas.microsoft.com/office/drawing/2014/main" id="{AAEDDF9A-B40A-5B86-3257-74BD39FD3174}"/>
              </a:ext>
            </a:extLst>
          </p:cNvPr>
          <p:cNvPicPr>
            <a:picLocks noChangeAspect="1"/>
          </p:cNvPicPr>
          <p:nvPr/>
        </p:nvPicPr>
        <p:blipFill>
          <a:blip r:embed="rId2"/>
          <a:srcRect l="6339" t="15860" r="9216" b="16688"/>
          <a:stretch>
            <a:fillRect/>
          </a:stretch>
        </p:blipFill>
        <p:spPr>
          <a:xfrm>
            <a:off x="4602361" y="1047721"/>
            <a:ext cx="4313038" cy="3445090"/>
          </a:xfrm>
          <a:prstGeom prst="rect">
            <a:avLst/>
          </a:prstGeom>
        </p:spPr>
      </p:pic>
    </p:spTree>
    <p:extLst>
      <p:ext uri="{BB962C8B-B14F-4D97-AF65-F5344CB8AC3E}">
        <p14:creationId xmlns:p14="http://schemas.microsoft.com/office/powerpoint/2010/main" val="3754400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545A-A71E-998F-6939-7CE2A36128CE}"/>
              </a:ext>
            </a:extLst>
          </p:cNvPr>
          <p:cNvSpPr>
            <a:spLocks noGrp="1"/>
          </p:cNvSpPr>
          <p:nvPr>
            <p:ph type="title" idx="4294967295"/>
          </p:nvPr>
        </p:nvSpPr>
        <p:spPr>
          <a:xfrm>
            <a:off x="129988" y="648680"/>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Live Demo of Project</a:t>
            </a:r>
            <a:endParaRPr lang="en-IN" sz="2200" b="1" dirty="0">
              <a:solidFill>
                <a:srgbClr val="002060"/>
              </a:solidFill>
              <a:latin typeface="Arial" panose="020B0604020202020204" pitchFamily="34" charset="0"/>
              <a:cs typeface="Arial" panose="020B0604020202020204" pitchFamily="34" charset="0"/>
            </a:endParaRPr>
          </a:p>
        </p:txBody>
      </p:sp>
      <p:sp>
        <p:nvSpPr>
          <p:cNvPr id="27" name="TextBox 3">
            <a:extLst>
              <a:ext uri="{FF2B5EF4-FFF2-40B4-BE49-F238E27FC236}">
                <a16:creationId xmlns:a16="http://schemas.microsoft.com/office/drawing/2014/main" id="{9541EE8F-29C0-C790-7456-F45BE00AE924}"/>
              </a:ext>
            </a:extLst>
          </p:cNvPr>
          <p:cNvSpPr txBox="1"/>
          <p:nvPr/>
        </p:nvSpPr>
        <p:spPr>
          <a:xfrm>
            <a:off x="228600" y="1135542"/>
            <a:ext cx="8741229" cy="276999"/>
          </a:xfrm>
          <a:prstGeom prst="rect">
            <a:avLst/>
          </a:prstGeom>
        </p:spPr>
        <p:txBody>
          <a:bodyPr wrap="square" lIns="0" tIns="0" rIns="0" bIns="0" rtlCol="0" anchor="t">
            <a:spAutoFit/>
          </a:bodyPr>
          <a:lstStyle/>
          <a:p>
            <a:pPr>
              <a:spcAft>
                <a:spcPts val="800"/>
              </a:spcAft>
            </a:pPr>
            <a:r>
              <a:rPr lang="en-US" sz="1800" dirty="0">
                <a:solidFill>
                  <a:srgbClr val="000000"/>
                </a:solidFill>
                <a:latin typeface="Arial" panose="020B0604020202020204" pitchFamily="34" charset="0"/>
                <a:ea typeface="Aileron"/>
                <a:cs typeface="Arial" panose="020B0604020202020204" pitchFamily="34" charset="0"/>
                <a:sym typeface="Aileron"/>
              </a:rPr>
              <a:t>Here’s the list of some demo of the projects - </a:t>
            </a:r>
          </a:p>
        </p:txBody>
      </p:sp>
      <p:sp>
        <p:nvSpPr>
          <p:cNvPr id="32" name="TextBox 31">
            <a:extLst>
              <a:ext uri="{FF2B5EF4-FFF2-40B4-BE49-F238E27FC236}">
                <a16:creationId xmlns:a16="http://schemas.microsoft.com/office/drawing/2014/main" id="{42DA2B7F-FA52-8007-6916-9BB592648640}"/>
              </a:ext>
            </a:extLst>
          </p:cNvPr>
          <p:cNvSpPr txBox="1"/>
          <p:nvPr/>
        </p:nvSpPr>
        <p:spPr>
          <a:xfrm>
            <a:off x="4390838" y="1853959"/>
            <a:ext cx="4572000" cy="2031325"/>
          </a:xfrm>
          <a:prstGeom prst="rect">
            <a:avLst/>
          </a:prstGeom>
          <a:noFill/>
        </p:spPr>
        <p:txBody>
          <a:bodyPr wrap="square">
            <a:spAutoFit/>
          </a:bodyPr>
          <a:lstStyle/>
          <a:p>
            <a:pPr marL="285750" indent="-285750">
              <a:buFont typeface="Arial" panose="020B0604020202020204" pitchFamily="34" charset="0"/>
              <a:buChar char="•"/>
            </a:pPr>
            <a:r>
              <a:rPr lang="en-US" dirty="0"/>
              <a:t>Market Leaders: Vistara holds the largest share at 31.56% (2.62K), closely followed by Air India at 27% (2.24K).</a:t>
            </a:r>
          </a:p>
          <a:p>
            <a:pPr marL="285750" indent="-285750">
              <a:buFont typeface="Arial" panose="020B0604020202020204" pitchFamily="34" charset="0"/>
              <a:buChar char="•"/>
            </a:pPr>
            <a:r>
              <a:rPr lang="en-US" dirty="0"/>
              <a:t>Budget Carriers: Indigo and GO_FIRST make up the middle segment, while SpiceJet and AirAsia represent the smallest slices of the data.</a:t>
            </a:r>
          </a:p>
          <a:p>
            <a:pPr marL="285750" indent="-285750">
              <a:buFont typeface="Arial" panose="020B0604020202020204" pitchFamily="34" charset="0"/>
              <a:buChar char="•"/>
            </a:pPr>
            <a:r>
              <a:rPr lang="en-US" dirty="0"/>
              <a:t>Purpose: The visual quickly identifies which airlines are most prominent in your dataset based on their ratings or frequency.</a:t>
            </a:r>
            <a:endParaRPr lang="en-IN" dirty="0"/>
          </a:p>
        </p:txBody>
      </p:sp>
      <p:pic>
        <p:nvPicPr>
          <p:cNvPr id="36" name="Picture 35">
            <a:extLst>
              <a:ext uri="{FF2B5EF4-FFF2-40B4-BE49-F238E27FC236}">
                <a16:creationId xmlns:a16="http://schemas.microsoft.com/office/drawing/2014/main" id="{C76C3789-5283-8530-F5B7-5B5FEDC0E429}"/>
              </a:ext>
            </a:extLst>
          </p:cNvPr>
          <p:cNvPicPr>
            <a:picLocks noChangeAspect="1"/>
          </p:cNvPicPr>
          <p:nvPr/>
        </p:nvPicPr>
        <p:blipFill>
          <a:blip r:embed="rId2"/>
          <a:stretch>
            <a:fillRect/>
          </a:stretch>
        </p:blipFill>
        <p:spPr>
          <a:xfrm>
            <a:off x="929325" y="1626435"/>
            <a:ext cx="3267531" cy="2486372"/>
          </a:xfrm>
          <a:prstGeom prst="rect">
            <a:avLst/>
          </a:prstGeom>
        </p:spPr>
      </p:pic>
    </p:spTree>
    <p:extLst>
      <p:ext uri="{BB962C8B-B14F-4D97-AF65-F5344CB8AC3E}">
        <p14:creationId xmlns:p14="http://schemas.microsoft.com/office/powerpoint/2010/main" val="1979684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58ADBC-A967-5573-F8B0-B2A7722104E4}"/>
              </a:ext>
            </a:extLst>
          </p:cNvPr>
          <p:cNvPicPr>
            <a:picLocks noChangeAspect="1"/>
          </p:cNvPicPr>
          <p:nvPr/>
        </p:nvPicPr>
        <p:blipFill>
          <a:blip r:embed="rId2"/>
          <a:stretch>
            <a:fillRect/>
          </a:stretch>
        </p:blipFill>
        <p:spPr>
          <a:xfrm>
            <a:off x="4519605" y="2562223"/>
            <a:ext cx="104790" cy="19053"/>
          </a:xfrm>
          <a:prstGeom prst="rect">
            <a:avLst/>
          </a:prstGeom>
        </p:spPr>
      </p:pic>
      <p:sp>
        <p:nvSpPr>
          <p:cNvPr id="7" name="TextBox 6">
            <a:extLst>
              <a:ext uri="{FF2B5EF4-FFF2-40B4-BE49-F238E27FC236}">
                <a16:creationId xmlns:a16="http://schemas.microsoft.com/office/drawing/2014/main" id="{0B7F5863-B445-60AF-EE43-566C47BD1952}"/>
              </a:ext>
            </a:extLst>
          </p:cNvPr>
          <p:cNvSpPr txBox="1"/>
          <p:nvPr/>
        </p:nvSpPr>
        <p:spPr>
          <a:xfrm>
            <a:off x="3891175" y="1501882"/>
            <a:ext cx="4633273" cy="1815882"/>
          </a:xfrm>
          <a:prstGeom prst="rect">
            <a:avLst/>
          </a:prstGeom>
          <a:noFill/>
        </p:spPr>
        <p:txBody>
          <a:bodyPr wrap="square">
            <a:spAutoFit/>
          </a:bodyPr>
          <a:lstStyle/>
          <a:p>
            <a:pPr marL="285750" indent="-285750">
              <a:buFont typeface="Arial" panose="020B0604020202020204" pitchFamily="34" charset="0"/>
              <a:buChar char="•"/>
            </a:pPr>
            <a:r>
              <a:rPr lang="en-US" dirty="0"/>
              <a:t>Vistara and Air India lead by a wide margin, showing they generate the most revenue in your Indian aviation data . </a:t>
            </a:r>
          </a:p>
          <a:p>
            <a:pPr marL="285750" indent="-285750">
              <a:buFont typeface="Arial" panose="020B0604020202020204" pitchFamily="34" charset="0"/>
              <a:buChar char="•"/>
            </a:pPr>
            <a:r>
              <a:rPr lang="en-US" dirty="0"/>
              <a:t>Indigo and GO_FIRST show moderate revenue levels .</a:t>
            </a:r>
          </a:p>
          <a:p>
            <a:pPr marL="285750" indent="-285750">
              <a:buFont typeface="Arial" panose="020B0604020202020204" pitchFamily="34" charset="0"/>
              <a:buChar char="•"/>
            </a:pPr>
            <a:r>
              <a:rPr lang="en-US" dirty="0"/>
              <a:t>SpiceJet and AirAsia are at the bottom, indicating they are lower-cost or lower-volume options in this study.</a:t>
            </a:r>
            <a:endParaRPr lang="en-IN" dirty="0"/>
          </a:p>
        </p:txBody>
      </p:sp>
      <p:pic>
        <p:nvPicPr>
          <p:cNvPr id="9" name="Picture 8">
            <a:extLst>
              <a:ext uri="{FF2B5EF4-FFF2-40B4-BE49-F238E27FC236}">
                <a16:creationId xmlns:a16="http://schemas.microsoft.com/office/drawing/2014/main" id="{4575642E-25E0-1F71-60A6-973574CD0257}"/>
              </a:ext>
            </a:extLst>
          </p:cNvPr>
          <p:cNvPicPr>
            <a:picLocks noChangeAspect="1"/>
          </p:cNvPicPr>
          <p:nvPr/>
        </p:nvPicPr>
        <p:blipFill>
          <a:blip r:embed="rId3"/>
          <a:stretch>
            <a:fillRect/>
          </a:stretch>
        </p:blipFill>
        <p:spPr>
          <a:xfrm>
            <a:off x="619552" y="1171400"/>
            <a:ext cx="3000794" cy="2476846"/>
          </a:xfrm>
          <a:prstGeom prst="rect">
            <a:avLst/>
          </a:prstGeom>
        </p:spPr>
      </p:pic>
    </p:spTree>
    <p:extLst>
      <p:ext uri="{BB962C8B-B14F-4D97-AF65-F5344CB8AC3E}">
        <p14:creationId xmlns:p14="http://schemas.microsoft.com/office/powerpoint/2010/main" val="472366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9B328D-4FBE-7429-D57E-0408A5113D82}"/>
              </a:ext>
            </a:extLst>
          </p:cNvPr>
          <p:cNvSpPr txBox="1"/>
          <p:nvPr/>
        </p:nvSpPr>
        <p:spPr>
          <a:xfrm>
            <a:off x="3907173" y="1556086"/>
            <a:ext cx="4572000" cy="2031325"/>
          </a:xfrm>
          <a:prstGeom prst="rect">
            <a:avLst/>
          </a:prstGeom>
          <a:noFill/>
        </p:spPr>
        <p:txBody>
          <a:bodyPr wrap="square">
            <a:spAutoFit/>
          </a:bodyPr>
          <a:lstStyle/>
          <a:p>
            <a:pPr marL="285750" indent="-285750">
              <a:buFont typeface="Arial" panose="020B0604020202020204" pitchFamily="34" charset="0"/>
              <a:buChar char="•"/>
            </a:pPr>
            <a:r>
              <a:rPr lang="en-US" dirty="0"/>
              <a:t>Dominant Revenue Source: The Business class accounts for nearly two-thirds of the total price value, totaling 16 million.</a:t>
            </a:r>
          </a:p>
          <a:p>
            <a:pPr marL="285750" indent="-285750">
              <a:buFont typeface="Arial" panose="020B0604020202020204" pitchFamily="34" charset="0"/>
              <a:buChar char="•"/>
            </a:pPr>
            <a:r>
              <a:rPr lang="en-US" dirty="0"/>
              <a:t>Secondary Source: The Economy class contributes roughly one-third, totaling 9 million .</a:t>
            </a:r>
          </a:p>
          <a:p>
            <a:pPr marL="285750" indent="-285750">
              <a:buFont typeface="Arial" panose="020B0604020202020204" pitchFamily="34" charset="0"/>
              <a:buChar char="•"/>
            </a:pPr>
            <a:r>
              <a:rPr lang="en-US" dirty="0"/>
              <a:t>Contextual Notes: While the full text is cut off, the bullet points on the right suggest that regional performance (specifically mentioning Bangalore, Delhi, and North) is a factor in these totals.</a:t>
            </a:r>
            <a:endParaRPr lang="en-IN" dirty="0"/>
          </a:p>
        </p:txBody>
      </p:sp>
      <p:pic>
        <p:nvPicPr>
          <p:cNvPr id="7" name="Picture 6">
            <a:extLst>
              <a:ext uri="{FF2B5EF4-FFF2-40B4-BE49-F238E27FC236}">
                <a16:creationId xmlns:a16="http://schemas.microsoft.com/office/drawing/2014/main" id="{34AB9CA0-97A6-83C5-3240-637A5B17F14A}"/>
              </a:ext>
            </a:extLst>
          </p:cNvPr>
          <p:cNvPicPr>
            <a:picLocks noChangeAspect="1"/>
          </p:cNvPicPr>
          <p:nvPr/>
        </p:nvPicPr>
        <p:blipFill>
          <a:blip r:embed="rId2"/>
          <a:stretch>
            <a:fillRect/>
          </a:stretch>
        </p:blipFill>
        <p:spPr>
          <a:xfrm>
            <a:off x="560917" y="1252353"/>
            <a:ext cx="2743583" cy="2638793"/>
          </a:xfrm>
          <a:prstGeom prst="rect">
            <a:avLst/>
          </a:prstGeom>
        </p:spPr>
      </p:pic>
    </p:spTree>
    <p:extLst>
      <p:ext uri="{BB962C8B-B14F-4D97-AF65-F5344CB8AC3E}">
        <p14:creationId xmlns:p14="http://schemas.microsoft.com/office/powerpoint/2010/main" val="1270812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DB2335-D66E-EEA2-1C38-9BBB3B11EF8D}"/>
              </a:ext>
            </a:extLst>
          </p:cNvPr>
          <p:cNvSpPr txBox="1"/>
          <p:nvPr/>
        </p:nvSpPr>
        <p:spPr>
          <a:xfrm>
            <a:off x="3990110" y="1830761"/>
            <a:ext cx="4572000" cy="1600438"/>
          </a:xfrm>
          <a:prstGeom prst="rect">
            <a:avLst/>
          </a:prstGeom>
          <a:noFill/>
        </p:spPr>
        <p:txBody>
          <a:bodyPr wrap="square">
            <a:spAutoFit/>
          </a:bodyPr>
          <a:lstStyle/>
          <a:p>
            <a:pPr marL="285750" indent="-285750">
              <a:buFont typeface="Arial" panose="020B0604020202020204" pitchFamily="34" charset="0"/>
              <a:buChar char="•"/>
            </a:pPr>
            <a:r>
              <a:rPr lang="en-IN" dirty="0"/>
              <a:t>Bangalore is the clear leader: It is the only city significantly outperforming the 5M threshold.</a:t>
            </a:r>
          </a:p>
          <a:p>
            <a:pPr marL="285750" indent="-285750">
              <a:buFont typeface="Arial" panose="020B0604020202020204" pitchFamily="34" charset="0"/>
              <a:buChar char="•"/>
            </a:pPr>
            <a:r>
              <a:rPr lang="en-IN" dirty="0"/>
              <a:t>Delhi is the outlier: It’s the only city in this set falling below the 5M mark.</a:t>
            </a:r>
          </a:p>
          <a:p>
            <a:pPr marL="285750" indent="-285750">
              <a:buFont typeface="Arial" panose="020B0604020202020204" pitchFamily="34" charset="0"/>
              <a:buChar char="•"/>
            </a:pPr>
            <a:r>
              <a:rPr lang="en-IN" dirty="0"/>
              <a:t>The Trend: There is a steady downward gradient in total price as you move from South (Bangalore) to North (Delhi) based on these specific four cities.</a:t>
            </a:r>
          </a:p>
        </p:txBody>
      </p:sp>
      <p:pic>
        <p:nvPicPr>
          <p:cNvPr id="7" name="Picture 6">
            <a:extLst>
              <a:ext uri="{FF2B5EF4-FFF2-40B4-BE49-F238E27FC236}">
                <a16:creationId xmlns:a16="http://schemas.microsoft.com/office/drawing/2014/main" id="{EEA40C3E-263C-51A2-83BB-D3AF9C5EB46E}"/>
              </a:ext>
            </a:extLst>
          </p:cNvPr>
          <p:cNvPicPr>
            <a:picLocks noChangeAspect="1"/>
          </p:cNvPicPr>
          <p:nvPr/>
        </p:nvPicPr>
        <p:blipFill>
          <a:blip r:embed="rId2"/>
          <a:stretch>
            <a:fillRect/>
          </a:stretch>
        </p:blipFill>
        <p:spPr>
          <a:xfrm>
            <a:off x="678681" y="1271406"/>
            <a:ext cx="2743583" cy="2600688"/>
          </a:xfrm>
          <a:prstGeom prst="rect">
            <a:avLst/>
          </a:prstGeom>
        </p:spPr>
      </p:pic>
    </p:spTree>
    <p:extLst>
      <p:ext uri="{BB962C8B-B14F-4D97-AF65-F5344CB8AC3E}">
        <p14:creationId xmlns:p14="http://schemas.microsoft.com/office/powerpoint/2010/main" val="1632956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0273529-E977-AB4E-E4C0-D82B0A5CEBA4}"/>
              </a:ext>
            </a:extLst>
          </p:cNvPr>
          <p:cNvSpPr txBox="1"/>
          <p:nvPr/>
        </p:nvSpPr>
        <p:spPr>
          <a:xfrm>
            <a:off x="4030370" y="1771531"/>
            <a:ext cx="4520697" cy="1600438"/>
          </a:xfrm>
          <a:prstGeom prst="rect">
            <a:avLst/>
          </a:prstGeom>
          <a:noFill/>
        </p:spPr>
        <p:txBody>
          <a:bodyPr wrap="square">
            <a:spAutoFit/>
          </a:bodyPr>
          <a:lstStyle/>
          <a:p>
            <a:pPr marL="285750" indent="-285750">
              <a:buFont typeface="Arial" panose="020B0604020202020204" pitchFamily="34" charset="0"/>
              <a:buChar char="•"/>
            </a:pPr>
            <a:r>
              <a:rPr lang="en-IN" dirty="0"/>
              <a:t>​Mumbai is the most expensive destination, with the highest "Sum of Price" exceeding 5M.</a:t>
            </a:r>
          </a:p>
          <a:p>
            <a:pPr marL="285750" indent="-285750">
              <a:buFont typeface="Arial" panose="020B0604020202020204" pitchFamily="34" charset="0"/>
              <a:buChar char="•"/>
            </a:pPr>
            <a:r>
              <a:rPr lang="en-IN" dirty="0"/>
              <a:t>​Bangalore is the second most costly hub, followed by Hyderabad, Kolkata, and Delhi.</a:t>
            </a:r>
          </a:p>
          <a:p>
            <a:pPr marL="285750" indent="-285750">
              <a:buFont typeface="Arial" panose="020B0604020202020204" pitchFamily="34" charset="0"/>
              <a:buChar char="•"/>
            </a:pPr>
            <a:r>
              <a:rPr lang="en-IN" dirty="0"/>
              <a:t>​The chart clearly shows that travel to Mumbai and Bangalore requires a higher budget compared to other major Indian cities.</a:t>
            </a:r>
          </a:p>
        </p:txBody>
      </p:sp>
      <p:pic>
        <p:nvPicPr>
          <p:cNvPr id="9" name="Picture 8">
            <a:extLst>
              <a:ext uri="{FF2B5EF4-FFF2-40B4-BE49-F238E27FC236}">
                <a16:creationId xmlns:a16="http://schemas.microsoft.com/office/drawing/2014/main" id="{81913711-A3EA-8FF8-F931-57F8DB8F5074}"/>
              </a:ext>
            </a:extLst>
          </p:cNvPr>
          <p:cNvPicPr>
            <a:picLocks noChangeAspect="1"/>
          </p:cNvPicPr>
          <p:nvPr/>
        </p:nvPicPr>
        <p:blipFill>
          <a:blip r:embed="rId2"/>
          <a:stretch>
            <a:fillRect/>
          </a:stretch>
        </p:blipFill>
        <p:spPr>
          <a:xfrm>
            <a:off x="315842" y="1131991"/>
            <a:ext cx="3029373" cy="2657846"/>
          </a:xfrm>
          <a:prstGeom prst="rect">
            <a:avLst/>
          </a:prstGeom>
        </p:spPr>
      </p:pic>
    </p:spTree>
    <p:extLst>
      <p:ext uri="{BB962C8B-B14F-4D97-AF65-F5344CB8AC3E}">
        <p14:creationId xmlns:p14="http://schemas.microsoft.com/office/powerpoint/2010/main" val="3547947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0A2C-122D-B694-9544-674D5B7F3F6D}"/>
              </a:ext>
            </a:extLst>
          </p:cNvPr>
          <p:cNvSpPr>
            <a:spLocks noGrp="1"/>
          </p:cNvSpPr>
          <p:nvPr>
            <p:ph type="ctrTitle"/>
          </p:nvPr>
        </p:nvSpPr>
        <p:spPr>
          <a:xfrm>
            <a:off x="360219" y="640483"/>
            <a:ext cx="2312743"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Future Scope</a:t>
            </a:r>
            <a:endParaRPr lang="en-IN" sz="2200" b="1" dirty="0">
              <a:solidFill>
                <a:srgbClr val="00206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D95AF8D9-4871-11F9-779E-AD9A8A7241A9}"/>
              </a:ext>
            </a:extLst>
          </p:cNvPr>
          <p:cNvSpPr>
            <a:spLocks noGrp="1"/>
          </p:cNvSpPr>
          <p:nvPr>
            <p:ph type="subTitle" idx="1"/>
          </p:nvPr>
        </p:nvSpPr>
        <p:spPr>
          <a:xfrm>
            <a:off x="360219" y="1357745"/>
            <a:ext cx="4765964" cy="3089563"/>
          </a:xfrm>
        </p:spPr>
        <p:txBody>
          <a:bodyPr/>
          <a:lstStyle/>
          <a:p>
            <a:pPr marL="285750" indent="-285750" algn="l">
              <a:buFont typeface="Arial" panose="020B0604020202020204" pitchFamily="34" charset="0"/>
              <a:buChar char="•"/>
            </a:pPr>
            <a:r>
              <a:rPr lang="en-US" sz="1600" dirty="0"/>
              <a:t>Price Prediction:</a:t>
            </a:r>
          </a:p>
          <a:p>
            <a:pPr algn="l"/>
            <a:r>
              <a:rPr lang="en-US" sz="1400" dirty="0"/>
              <a:t>Adding a feature that tells users whether to “Buy now”               or “Wait” by predicting if prices will go up or down in the future.</a:t>
            </a:r>
          </a:p>
          <a:p>
            <a:pPr marL="285750" indent="-285750" algn="l">
              <a:buFont typeface="Arial" panose="020B0604020202020204" pitchFamily="34" charset="0"/>
              <a:buChar char="•"/>
            </a:pPr>
            <a:r>
              <a:rPr lang="en-US" sz="1600" dirty="0"/>
              <a:t>Live Updates:</a:t>
            </a:r>
          </a:p>
          <a:p>
            <a:pPr algn="l"/>
            <a:r>
              <a:rPr lang="en-US" sz="1600" dirty="0"/>
              <a:t> </a:t>
            </a:r>
            <a:r>
              <a:rPr lang="en-US" sz="1400" dirty="0"/>
              <a:t>Connecting the dashboard to live websites so it shows today’s actual ticket prices instead of old data.</a:t>
            </a:r>
          </a:p>
          <a:p>
            <a:pPr marL="285750" indent="-285750" algn="l">
              <a:buFont typeface="Arial" panose="020B0604020202020204" pitchFamily="34" charset="0"/>
              <a:buChar char="•"/>
            </a:pPr>
            <a:r>
              <a:rPr lang="en-US" sz="1600" dirty="0"/>
              <a:t>Holiday &amp; Festival Analysis:</a:t>
            </a:r>
          </a:p>
          <a:p>
            <a:pPr algn="l"/>
            <a:r>
              <a:rPr lang="en-US" sz="1400" dirty="0"/>
              <a:t>Tracking how prices spike during major events like Diwali or New Year to help travelers plan better.</a:t>
            </a:r>
          </a:p>
          <a:p>
            <a:pPr marL="285750" indent="-285750" algn="l">
              <a:buFont typeface="Arial" panose="020B0604020202020204" pitchFamily="34" charset="0"/>
              <a:buChar char="•"/>
            </a:pPr>
            <a:endParaRPr lang="en-US" sz="1400" dirty="0"/>
          </a:p>
          <a:p>
            <a:pPr algn="l"/>
            <a:endParaRPr lang="en-US" sz="1600" dirty="0"/>
          </a:p>
          <a:p>
            <a:pPr algn="l"/>
            <a:r>
              <a:rPr lang="en-US" sz="1600" dirty="0"/>
              <a:t>                   </a:t>
            </a:r>
          </a:p>
        </p:txBody>
      </p:sp>
      <p:pic>
        <p:nvPicPr>
          <p:cNvPr id="4" name="Picture 3" descr="A blue and black head with a light bulb inside&#10;&#10;AI-generated content may be incorrect.">
            <a:extLst>
              <a:ext uri="{FF2B5EF4-FFF2-40B4-BE49-F238E27FC236}">
                <a16:creationId xmlns:a16="http://schemas.microsoft.com/office/drawing/2014/main" id="{780CFD29-1812-631A-1356-FC7392A051EF}"/>
              </a:ext>
            </a:extLst>
          </p:cNvPr>
          <p:cNvPicPr>
            <a:picLocks noChangeAspect="1"/>
          </p:cNvPicPr>
          <p:nvPr/>
        </p:nvPicPr>
        <p:blipFill>
          <a:blip r:embed="rId2"/>
          <a:srcRect l="10476" r="9682" b="15238"/>
          <a:stretch>
            <a:fillRect/>
          </a:stretch>
        </p:blipFill>
        <p:spPr>
          <a:xfrm>
            <a:off x="5527222" y="1181907"/>
            <a:ext cx="3024104" cy="3210479"/>
          </a:xfrm>
          <a:prstGeom prst="rect">
            <a:avLst/>
          </a:prstGeom>
        </p:spPr>
      </p:pic>
    </p:spTree>
    <p:extLst>
      <p:ext uri="{BB962C8B-B14F-4D97-AF65-F5344CB8AC3E}">
        <p14:creationId xmlns:p14="http://schemas.microsoft.com/office/powerpoint/2010/main" val="705114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F542-A262-9D06-862C-382BB901D1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9E4962B-04C2-136D-9DE0-5D0F73FE4542}"/>
              </a:ext>
            </a:extLst>
          </p:cNvPr>
          <p:cNvSpPr>
            <a:spLocks noGrp="1"/>
          </p:cNvSpPr>
          <p:nvPr>
            <p:ph type="subTitle" idx="4294967295"/>
          </p:nvPr>
        </p:nvSpPr>
        <p:spPr>
          <a:xfrm>
            <a:off x="401781" y="966510"/>
            <a:ext cx="4765675" cy="3210479"/>
          </a:xfrm>
          <a:prstGeom prst="rect">
            <a:avLst/>
          </a:prstGeom>
        </p:spPr>
        <p:txBody>
          <a:bodyPr/>
          <a:lstStyle/>
          <a:p>
            <a:pPr algn="l"/>
            <a:endParaRPr lang="en-US" sz="1400" dirty="0"/>
          </a:p>
          <a:p>
            <a:pPr algn="l"/>
            <a:r>
              <a:rPr lang="en-US" sz="1600" dirty="0"/>
              <a:t>Customer Review Analysis:</a:t>
            </a:r>
          </a:p>
          <a:p>
            <a:pPr marL="0" indent="0" algn="l">
              <a:buNone/>
            </a:pPr>
            <a:r>
              <a:rPr lang="en-US" sz="1400" dirty="0"/>
              <a:t>Looking at actual written comments (not just star rating ) to </a:t>
            </a:r>
          </a:p>
          <a:p>
            <a:pPr marL="0" indent="0" algn="l">
              <a:buNone/>
            </a:pPr>
            <a:r>
              <a:rPr lang="en-US" sz="1400" dirty="0"/>
              <a:t>Find specific problems like “bad food” or “</a:t>
            </a:r>
            <a:r>
              <a:rPr lang="en-US" sz="1600" dirty="0"/>
              <a:t>fight delays.”               </a:t>
            </a:r>
          </a:p>
          <a:p>
            <a:pPr algn="l"/>
            <a:r>
              <a:rPr lang="en-US" sz="1600" dirty="0"/>
              <a:t>Mobile App Version:</a:t>
            </a:r>
          </a:p>
          <a:p>
            <a:pPr marL="0" indent="0" algn="l">
              <a:buNone/>
            </a:pPr>
            <a:r>
              <a:rPr lang="en-US" sz="1600" dirty="0"/>
              <a:t>Turning this dashboard into a user-friendly mobile app so travelers can check these stats on the go.</a:t>
            </a:r>
          </a:p>
          <a:p>
            <a:pPr algn="l"/>
            <a:r>
              <a:rPr lang="en-US" sz="1600" dirty="0"/>
              <a:t>Eco-friendly Tracking:</a:t>
            </a:r>
          </a:p>
          <a:p>
            <a:pPr marL="0" indent="0" algn="l">
              <a:buNone/>
            </a:pPr>
            <a:r>
              <a:rPr lang="en-US" sz="1400" dirty="0"/>
              <a:t>Adding a “Green Score” to show which flights have the lowest carbon emissions for environmentally friendly travel.</a:t>
            </a:r>
          </a:p>
        </p:txBody>
      </p:sp>
      <p:pic>
        <p:nvPicPr>
          <p:cNvPr id="4" name="Picture 3" descr="A blue and black head with a light bulb inside&#10;&#10;AI-generated content may be incorrect.">
            <a:extLst>
              <a:ext uri="{FF2B5EF4-FFF2-40B4-BE49-F238E27FC236}">
                <a16:creationId xmlns:a16="http://schemas.microsoft.com/office/drawing/2014/main" id="{F633809C-CCBF-21B5-2832-17D59CCAFC8F}"/>
              </a:ext>
            </a:extLst>
          </p:cNvPr>
          <p:cNvPicPr>
            <a:picLocks noChangeAspect="1"/>
          </p:cNvPicPr>
          <p:nvPr/>
        </p:nvPicPr>
        <p:blipFill>
          <a:blip r:embed="rId2"/>
          <a:srcRect l="10476" r="9682" b="15238"/>
          <a:stretch>
            <a:fillRect/>
          </a:stretch>
        </p:blipFill>
        <p:spPr>
          <a:xfrm>
            <a:off x="5527222" y="1181907"/>
            <a:ext cx="3024104" cy="3210479"/>
          </a:xfrm>
          <a:prstGeom prst="rect">
            <a:avLst/>
          </a:prstGeom>
        </p:spPr>
      </p:pic>
    </p:spTree>
    <p:extLst>
      <p:ext uri="{BB962C8B-B14F-4D97-AF65-F5344CB8AC3E}">
        <p14:creationId xmlns:p14="http://schemas.microsoft.com/office/powerpoint/2010/main" val="87685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90F4B-9803-CB1B-02A8-FB5D111C9F43}"/>
              </a:ext>
            </a:extLst>
          </p:cNvPr>
          <p:cNvSpPr>
            <a:spLocks noGrp="1"/>
          </p:cNvSpPr>
          <p:nvPr>
            <p:ph type="ctrTitle"/>
          </p:nvPr>
        </p:nvSpPr>
        <p:spPr>
          <a:xfrm>
            <a:off x="810491" y="933344"/>
            <a:ext cx="2022764"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Conclusion</a:t>
            </a:r>
            <a:endParaRPr lang="en-IN" sz="2200" b="1" dirty="0">
              <a:solidFill>
                <a:srgbClr val="00206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7366B6A8-07AD-1574-8541-C4A1444B04B7}"/>
              </a:ext>
            </a:extLst>
          </p:cNvPr>
          <p:cNvSpPr>
            <a:spLocks noGrp="1"/>
          </p:cNvSpPr>
          <p:nvPr>
            <p:ph type="subTitle" idx="1"/>
          </p:nvPr>
        </p:nvSpPr>
        <p:spPr>
          <a:xfrm>
            <a:off x="477982" y="1621269"/>
            <a:ext cx="4398818" cy="2548949"/>
          </a:xfrm>
        </p:spPr>
        <p:txBody>
          <a:bodyPr/>
          <a:lstStyle/>
          <a:p>
            <a:pPr marL="342900" indent="-342900" algn="l">
              <a:buFont typeface="Arial" panose="020B0604020202020204" pitchFamily="34" charset="0"/>
              <a:buChar char="•"/>
            </a:pPr>
            <a:r>
              <a:rPr lang="en-US" sz="1400" dirty="0"/>
              <a:t>This project solves the problem of high price volatility and service uncertainty in the airline market . By analyzing 2M (Rs) in revenue, the dashboard concludes that while Economy class dominates in volume, Business Class  and top-rated carriers like Vistara are the main value drivers. With hub like Mumbai and Bangalore identified as high-cost zones, the data proves that strategic timing is essential for cost control . The future scope is to move from analysis to prediction using Machine Learning , turning these insights into a real-time tool for smarter , cheaper travel.</a:t>
            </a:r>
            <a:endParaRPr lang="en-IN" sz="1400" dirty="0"/>
          </a:p>
        </p:txBody>
      </p:sp>
      <p:pic>
        <p:nvPicPr>
          <p:cNvPr id="6" name="Picture 5" descr="A blue circle with a pencil and paper with a star on it&#10;&#10;AI-generated content may be incorrect.">
            <a:extLst>
              <a:ext uri="{FF2B5EF4-FFF2-40B4-BE49-F238E27FC236}">
                <a16:creationId xmlns:a16="http://schemas.microsoft.com/office/drawing/2014/main" id="{2075D82B-B6A7-F9F1-A030-D929A52115C8}"/>
              </a:ext>
            </a:extLst>
          </p:cNvPr>
          <p:cNvPicPr>
            <a:picLocks noChangeAspect="1"/>
          </p:cNvPicPr>
          <p:nvPr/>
        </p:nvPicPr>
        <p:blipFill>
          <a:blip r:embed="rId2"/>
          <a:srcRect l="25397" t="26296" r="26825" b="15397"/>
          <a:stretch>
            <a:fillRect/>
          </a:stretch>
        </p:blipFill>
        <p:spPr>
          <a:xfrm>
            <a:off x="5800727" y="1135323"/>
            <a:ext cx="2675590" cy="3265227"/>
          </a:xfrm>
          <a:prstGeom prst="rect">
            <a:avLst/>
          </a:prstGeom>
        </p:spPr>
      </p:pic>
    </p:spTree>
    <p:extLst>
      <p:ext uri="{BB962C8B-B14F-4D97-AF65-F5344CB8AC3E}">
        <p14:creationId xmlns:p14="http://schemas.microsoft.com/office/powerpoint/2010/main" val="2174784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15F47A66-6A16-A2DA-4391-046F577EDC5F}"/>
              </a:ext>
            </a:extLst>
          </p:cNvPr>
          <p:cNvSpPr txBox="1"/>
          <p:nvPr/>
        </p:nvSpPr>
        <p:spPr>
          <a:xfrm>
            <a:off x="2632982" y="1781046"/>
            <a:ext cx="3878036" cy="1175065"/>
          </a:xfrm>
          <a:prstGeom prst="rect">
            <a:avLst/>
          </a:prstGeom>
        </p:spPr>
        <p:txBody>
          <a:bodyPr wrap="square" lIns="0" tIns="0" rIns="0" bIns="0" rtlCol="0" anchor="t">
            <a:spAutoFit/>
          </a:bodyPr>
          <a:lstStyle/>
          <a:p>
            <a:pPr algn="ctr">
              <a:lnSpc>
                <a:spcPts val="10686"/>
              </a:lnSpc>
            </a:pPr>
            <a:r>
              <a:rPr lang="en-US" sz="5000" b="1">
                <a:solidFill>
                  <a:srgbClr val="0D358D"/>
                </a:solidFill>
                <a:latin typeface="Arial" panose="020B0604020202020204" pitchFamily="34" charset="0"/>
                <a:ea typeface="Aileron Ultra-Bold"/>
                <a:cs typeface="Arial" panose="020B0604020202020204" pitchFamily="34" charset="0"/>
                <a:sym typeface="Aileron Ultra-Bold"/>
              </a:rPr>
              <a:t>Thank You</a:t>
            </a:r>
          </a:p>
        </p:txBody>
      </p:sp>
    </p:spTree>
    <p:extLst>
      <p:ext uri="{BB962C8B-B14F-4D97-AF65-F5344CB8AC3E}">
        <p14:creationId xmlns:p14="http://schemas.microsoft.com/office/powerpoint/2010/main" val="188237828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4eeb56d-118c-48c3-937f-7f05817f737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921E1C5FD398A4287C0920180B68150" ma:contentTypeVersion="18" ma:contentTypeDescription="Create a new document." ma:contentTypeScope="" ma:versionID="26704334229d571494ec08df731579b2">
  <xsd:schema xmlns:xsd="http://www.w3.org/2001/XMLSchema" xmlns:xs="http://www.w3.org/2001/XMLSchema" xmlns:p="http://schemas.microsoft.com/office/2006/metadata/properties" xmlns:ns3="94eeb56d-118c-48c3-937f-7f05817f7373" xmlns:ns4="fe56e3b0-34a1-4d6f-a501-a0b2b7006a18" targetNamespace="http://schemas.microsoft.com/office/2006/metadata/properties" ma:root="true" ma:fieldsID="646583e16dee9c97f40ce908d27133ed" ns3:_="" ns4:_="">
    <xsd:import namespace="94eeb56d-118c-48c3-937f-7f05817f7373"/>
    <xsd:import namespace="fe56e3b0-34a1-4d6f-a501-a0b2b7006a1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eeb56d-118c-48c3-937f-7f05817f7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56e3b0-34a1-4d6f-a501-a0b2b7006a1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94eeb56d-118c-48c3-937f-7f05817f7373"/>
    <ds:schemaRef ds:uri="fe56e3b0-34a1-4d6f-a501-a0b2b7006a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2B6CD32-2537-46E7-8CC3-A58D44622414}">
  <ds:schemaRefs>
    <ds:schemaRef ds:uri="94eeb56d-118c-48c3-937f-7f05817f7373"/>
    <ds:schemaRef ds:uri="fe56e3b0-34a1-4d6f-a501-a0b2b7006a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327</TotalTime>
  <Words>1243</Words>
  <Application>Microsoft Office PowerPoint</Application>
  <PresentationFormat>On-screen Show (16:9)</PresentationFormat>
  <Paragraphs>93</Paragraphs>
  <Slides>19</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Aptos</vt:lpstr>
      <vt:lpstr>Aptos Display</vt:lpstr>
      <vt:lpstr>Arial</vt:lpstr>
      <vt:lpstr>Times New Roman</vt:lpstr>
      <vt:lpstr>Wingdings</vt:lpstr>
      <vt:lpstr>Custom Design</vt:lpstr>
      <vt:lpstr>1_Custom Design</vt:lpstr>
      <vt:lpstr>PowerPoint Presentation</vt:lpstr>
      <vt:lpstr>PowerPoint Presentation</vt:lpstr>
      <vt:lpstr>Abstract</vt:lpstr>
      <vt:lpstr>PowerPoint Presentation</vt:lpstr>
      <vt:lpstr>PowerPoint Presentation</vt:lpstr>
      <vt:lpstr>PowerPoint Presentation</vt:lpstr>
      <vt:lpstr>PowerPoint Presentation</vt:lpstr>
      <vt:lpstr>PowerPoint Presentation</vt:lpstr>
      <vt:lpstr>Problem Statement</vt:lpstr>
      <vt:lpstr>Proposed Solution</vt:lpstr>
      <vt:lpstr>Live Demo of Project</vt:lpstr>
      <vt:lpstr>PowerPoint Presentation</vt:lpstr>
      <vt:lpstr>PowerPoint Presentation</vt:lpstr>
      <vt:lpstr>PowerPoint Presentation</vt:lpstr>
      <vt:lpstr>PowerPoint Presentation</vt:lpstr>
      <vt:lpstr>Future Scope</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hlcc033@outlook.com</cp:lastModifiedBy>
  <cp:revision>9</cp:revision>
  <dcterms:modified xsi:type="dcterms:W3CDTF">2026-02-07T03:47:34Z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0x0101009921E1C5FD398A4287C0920180B68150</vt:lpwstr>
  </property>
  <property fmtid="{D5CDD505-2E9C-101B-9397-08002B2CF9AE}" pid="3" name="MSIP_Label_defa4170-0d19-0005-0004-bc88714345d2_Enabled">
    <vt:lpwstr>true</vt:lpwstr>
  </property>
  <property fmtid="{D5CDD505-2E9C-101B-9397-08002B2CF9AE}" pid="4" name="MSIP_Label_defa4170-0d19-0005-0004-bc88714345d2_SetDate">
    <vt:lpwstr>2023-07-11T03:09:09Z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698b2528-286a-444d-a68d-b8bbb1f69870</vt:lpwstr>
  </property>
  <property fmtid="{D5CDD505-2E9C-101B-9397-08002B2CF9AE}" pid="8" name="MSIP_Label_defa4170-0d19-0005-0004-bc88714345d2_ActionId">
    <vt:lpwstr>9e872e44-4725-4b90-87d6-01f911260b79</vt:lpwstr>
  </property>
  <property fmtid="{D5CDD505-2E9C-101B-9397-08002B2CF9AE}" pid="9" name="MSIP_Label_defa4170-0d19-0005-0004-bc88714345d2_ContentBits">
    <vt:lpwstr>0</vt:lpwstr>
  </property>
</Properties>
</file>